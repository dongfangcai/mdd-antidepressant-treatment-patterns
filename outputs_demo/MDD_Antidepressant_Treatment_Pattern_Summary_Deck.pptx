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70"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10"/>
    <p:restoredTop sz="96266"/>
  </p:normalViewPr>
  <p:slideViewPr>
    <p:cSldViewPr snapToGrid="0" snapToObjects="1">
      <p:cViewPr varScale="1">
        <p:scale>
          <a:sx n="113" d="100"/>
          <a:sy n="113" d="100"/>
        </p:scale>
        <p:origin x="184"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1330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project studies how patients with major depressive disorder move across antidepressant classes in real-world data. The focus is not only whether patients receive medications, but how their treatment classes change over time, and whether LOT1 and LOT2 overlap. The presentation is designed for a general audience, so I will explain the data source, cohort construction, method, outputs, key findings, and why this workflow is valuable.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MDD treatment often involves switching from one medication class to another, or overlapping classes during a taper, cross-taper, or add-on strategy. Claims and EHR data contain these patterns, but they are not obvious unless we define index date, treatment episodes, LOT1, LOT2, and overlap days. The value is that we can move from raw data to a clinically interpretable treatment pathway.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explain the data source. All of Us data are structured in OMOP tables, so diagnoses and medications are represented in standardized clinical tables. The cohort starts from EHR participants, then identifies MDD, then antidepressant exposure, then the mono-class index cohort used for line-of-therapy analysis. The distinction between all antidepressant users and mono-class index patients is important because LOT analysis needs a clear first treatment class.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purpose. I want the audience to see this as a full workflow: cohort construction, drug class mapping, line-of-therapy definitions, overlap statistics, and visual communication. Tables 1 to 7 are not independent pieces; they are steps in one analytic story.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pipeline. The project was not just manual Excel work. The code created reproducible pieces: drug mapping, episode construction, LOT table building, Sankey plotting, and overlap summaries. This is important because the workflow can be rerun when the data cutoff changes or adapted to another therapeutic area.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index class was SSRI, almost half of the antidepressant cohort. That is why the later deep dive focuses on SSRI transitions. Another key point is the mono-class index cohort. If a patient starts multiple classes on the same index date, LOT1 is ambiguous, so the clean LOT analysis used the single-class index group.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slides. LOT1 is not simply the first prescription record. It is the first observed antidepressant class episode after the index MDD diagnosis. LOT2 is the earliest subsequent non-index class. Overlap days are calculated from the intersection of LOT1 and LOT2 episodes. This allows us to distinguish no overlap, short overlap, moderate overlap, long overlap, and no qualifying LOT2.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explain the Sankey. The width of each ribbon represents patient count. This chart is useful because Table 6 has many rows, including combinations of LOT2 classes and overlap categories. The Sankey makes it visually clear that SSRI is the dominant starting class and that no qualifying non-index class is a large destination category. I also added explanatory footnotes to make the exported figure understandable even outside the notebook.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three-category Sankey is easy to read, but the five-category version gives a more precise clinical interpretation. No overlap is different from 1 to 29 days of overlap. Likewise, 30 to 89 days and 90 or more days may represent different levels of cross-tapering, augmentation, or prolonged combination therapy. This was an important refinement requested by the teacher.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10 speaker notes:</a:t>
            </a:r>
          </a:p>
          <a:p>
            <a:r>
              <a:rPr dirty="0"/>
              <a:t>This table compares the same single-class LOT2 metrics across follow-up windows. The first three windows use the 62,448 mono-class index cohort. The recent 5-year column uses the Oct. 1, 2023 cutoff cohort from Table 6, N = 15,648.</a:t>
            </a:r>
          </a:p>
          <a:p>
            <a:endParaRPr dirty="0"/>
          </a:p>
          <a:p>
            <a:r>
              <a:rPr dirty="0"/>
              <a:t>The key pattern is that longer follow-up captures more LOT2 events: single-class LOT2 increases from 13,833 patients at 1 year to 37,736 across the entire available follow-up. In the recent 5-year cohort, 5,786 of 15,648 patients had a single-class LOT2 transition, or 37.0%.</a:t>
            </a:r>
          </a:p>
          <a:p>
            <a:endParaRPr dirty="0"/>
          </a:p>
          <a:p>
            <a:r>
              <a:rPr dirty="0"/>
              <a:t>For interpretation, no-overlap means LOT2 began after LOT1 ended, while overlap less than 90 days including no overlap captures short or no overlap transitions. In the recent 5-year cohort, 3,180 patients had no overlap and 4,932 had overlap under 90 days including no overlap. This supports the main message: the choice of follow-up window strongly affects how much switching or second-line monotherapy we observe.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one of the most important final outputs. We separated patients with no overlap from patients with positive overlap. Then the mean, median, Q1, Q3, P95, and P99 were calculated only among patients with overlap greater than zero. SSRI to atypical antidepressants was the largest transition. The median was 51 days, but P95 and P99 show a long tail, meaning a smaller group overlapped for a very long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translates the results into meaning. The key finding is not only which class was common, but how treatment moved over time. The workflow helps distinguish no switching, switching without overlap, short overlap, and prolonged overlap. These patterns are useful for clinical interpretation, safety questions, and strategic evidence generation.</a:t>
            </a:r>
          </a:p>
          <a:p>
            <a:r>
              <a:rPr lang="en-US" dirty="0"/>
              <a:t>One important finding is that SSRI was the dominant starting class, and among SSRI patients who moved to a single LOT2 class, the SSRI to atypical antidepressant transition was the largest subgroup.</a:t>
            </a:r>
          </a:p>
          <a:p>
            <a:endParaRPr lang="en-US" dirty="0"/>
          </a:p>
          <a:p>
            <a:r>
              <a:rPr lang="en-US" dirty="0"/>
              <a:t>This matters because it gives us a clinically interpretable patient segment. If a company is developing an SSRI, an atypical antidepressant, or a product positioned after SSRI treatment, this subgroup could be useful for understanding treatment sequencing and potential market opportunities.</a:t>
            </a:r>
          </a:p>
          <a:p>
            <a:endParaRPr lang="en-US" dirty="0"/>
          </a:p>
          <a:p>
            <a:r>
              <a:rPr lang="en-US" dirty="0"/>
              <a:t>The current analysis does not tell us why the switch happened, but it identifies where the switch happens. That creates a foundation for future work, such as comparing patient characteristics, age groups, comorbidity profiles, geographic patterns, or external prescriber-level information to understand which patients or providers are more likely to move from SSRI to atypical antidepressants.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important for showing the work behind the results. The hardest part was not plotting; it was defining the data correctly. OMOP drug data are messy, medication end dates can be missing, and treatment-line definitions need consistent rules. I solved these through mapping dictionaries, QC, episode construction, same-day collapse logic, and clearer overlap categories.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I completed a full workflow from cohort construction to final presentation outputs. The strongest value is that the pipeline is reusable and interpretable. It allows a future analyst, advisor, or employer to understand both the analytical process and the clinical meaning of the output. The next steps would be advisor validation, data privacy review for broader sharing, and extension to outcome or drug-drug interaction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Shape 2"/>
          <p:cNvSpPr/>
          <p:nvPr/>
        </p:nvSpPr>
        <p:spPr>
          <a:xfrm>
            <a:off x="0" y="374904"/>
            <a:ext cx="12191695" cy="6766560"/>
          </a:xfrm>
          <a:prstGeom prst="rect">
            <a:avLst/>
          </a:prstGeom>
          <a:solidFill>
            <a:srgbClr val="F7FBFD"/>
          </a:solidFill>
          <a:ln w="12700">
            <a:solidFill>
              <a:srgbClr val="F7FBFD"/>
            </a:solidFill>
            <a:prstDash val="solid"/>
          </a:ln>
        </p:spPr>
        <p:txBody>
          <a:bodyPr/>
          <a:lstStyle/>
          <a:p>
            <a:endParaRPr lang="en-US"/>
          </a:p>
        </p:txBody>
      </p:sp>
      <p:sp>
        <p:nvSpPr>
          <p:cNvPr id="5" name="Text 3"/>
          <p:cNvSpPr/>
          <p:nvPr/>
        </p:nvSpPr>
        <p:spPr>
          <a:xfrm>
            <a:off x="685800" y="1170432"/>
            <a:ext cx="6949440" cy="1234440"/>
          </a:xfrm>
          <a:prstGeom prst="rect">
            <a:avLst/>
          </a:prstGeom>
          <a:noFill/>
          <a:ln/>
        </p:spPr>
        <p:txBody>
          <a:bodyPr wrap="square" lIns="0" tIns="0" rIns="0" bIns="0" rtlCol="0" anchor="ctr"/>
          <a:lstStyle/>
          <a:p>
            <a:pPr marL="0" indent="0">
              <a:buNone/>
            </a:pPr>
            <a:r>
              <a:rPr lang="en-US" sz="3400" b="1" dirty="0">
                <a:solidFill>
                  <a:srgbClr val="1F3556"/>
                </a:solidFill>
                <a:latin typeface="Aptos Display" pitchFamily="34" charset="0"/>
                <a:ea typeface="Aptos Display" pitchFamily="34" charset="-122"/>
                <a:cs typeface="Aptos Display" pitchFamily="34" charset="-120"/>
              </a:rPr>
              <a:t>MDD Antidepressant</a:t>
            </a:r>
            <a:endParaRPr lang="en-US" sz="3400" dirty="0"/>
          </a:p>
          <a:p>
            <a:pPr marL="0" indent="0">
              <a:buNone/>
            </a:pPr>
            <a:r>
              <a:rPr lang="en-US" sz="3400" b="1" dirty="0">
                <a:solidFill>
                  <a:srgbClr val="1F3556"/>
                </a:solidFill>
                <a:latin typeface="Aptos Display" pitchFamily="34" charset="0"/>
                <a:ea typeface="Aptos Display" pitchFamily="34" charset="-122"/>
                <a:cs typeface="Aptos Display" pitchFamily="34" charset="-120"/>
              </a:rPr>
              <a:t>Treatment Pattern Analysis</a:t>
            </a:r>
            <a:endParaRPr lang="en-US" sz="3400" dirty="0"/>
          </a:p>
        </p:txBody>
      </p:sp>
      <p:sp>
        <p:nvSpPr>
          <p:cNvPr id="6" name="Text 4"/>
          <p:cNvSpPr/>
          <p:nvPr/>
        </p:nvSpPr>
        <p:spPr>
          <a:xfrm>
            <a:off x="713232" y="2615184"/>
            <a:ext cx="6858000" cy="310896"/>
          </a:xfrm>
          <a:prstGeom prst="rect">
            <a:avLst/>
          </a:prstGeom>
          <a:noFill/>
          <a:ln/>
        </p:spPr>
        <p:txBody>
          <a:bodyPr wrap="square" lIns="0" tIns="0" rIns="0" bIns="0" rtlCol="0" anchor="ctr"/>
          <a:lstStyle/>
          <a:p>
            <a:pPr marL="0" indent="0">
              <a:buNone/>
            </a:pPr>
            <a:r>
              <a:rPr lang="en-US" sz="1400" dirty="0">
                <a:solidFill>
                  <a:srgbClr val="6B7280"/>
                </a:solidFill>
              </a:rPr>
              <a:t>From OMOP clinical records to interpretable treatment switching and overlap patterns</a:t>
            </a:r>
            <a:endParaRPr lang="en-US" sz="1400" dirty="0"/>
          </a:p>
        </p:txBody>
      </p:sp>
      <p:sp>
        <p:nvSpPr>
          <p:cNvPr id="7" name="Shape 5"/>
          <p:cNvSpPr/>
          <p:nvPr/>
        </p:nvSpPr>
        <p:spPr>
          <a:xfrm>
            <a:off x="829361" y="3154680"/>
            <a:ext cx="2423160" cy="347472"/>
          </a:xfrm>
          <a:prstGeom prst="roundRect">
            <a:avLst>
              <a:gd name="adj" fmla="val 15789"/>
            </a:avLst>
          </a:prstGeom>
          <a:solidFill>
            <a:srgbClr val="E7F7F6"/>
          </a:solidFill>
          <a:ln w="12700">
            <a:solidFill>
              <a:srgbClr val="E7F7F6"/>
            </a:solidFill>
            <a:prstDash val="solid"/>
          </a:ln>
        </p:spPr>
        <p:txBody>
          <a:bodyPr/>
          <a:lstStyle/>
          <a:p>
            <a:endParaRPr lang="en-US"/>
          </a:p>
        </p:txBody>
      </p:sp>
      <p:sp>
        <p:nvSpPr>
          <p:cNvPr id="8" name="Text 6"/>
          <p:cNvSpPr/>
          <p:nvPr/>
        </p:nvSpPr>
        <p:spPr>
          <a:xfrm>
            <a:off x="916432" y="3235452"/>
            <a:ext cx="2203704" cy="164592"/>
          </a:xfrm>
          <a:prstGeom prst="rect">
            <a:avLst/>
          </a:prstGeom>
          <a:noFill/>
          <a:ln/>
        </p:spPr>
        <p:txBody>
          <a:bodyPr wrap="square" lIns="0" tIns="0" rIns="0" bIns="0" rtlCol="0" anchor="ctr"/>
          <a:lstStyle/>
          <a:p>
            <a:pPr marL="0" indent="0" algn="ctr">
              <a:buNone/>
            </a:pPr>
            <a:r>
              <a:rPr lang="en-US" sz="920" b="1" dirty="0">
                <a:solidFill>
                  <a:srgbClr val="2CB7B0"/>
                </a:solidFill>
              </a:rPr>
              <a:t>All of Us Controlled Tier CDRv8</a:t>
            </a:r>
            <a:endParaRPr lang="en-US" sz="920" dirty="0"/>
          </a:p>
        </p:txBody>
      </p:sp>
      <p:sp>
        <p:nvSpPr>
          <p:cNvPr id="9" name="Shape 7"/>
          <p:cNvSpPr/>
          <p:nvPr/>
        </p:nvSpPr>
        <p:spPr>
          <a:xfrm>
            <a:off x="3310128" y="3154680"/>
            <a:ext cx="2121408" cy="347472"/>
          </a:xfrm>
          <a:prstGeom prst="roundRect">
            <a:avLst>
              <a:gd name="adj" fmla="val 15789"/>
            </a:avLst>
          </a:prstGeom>
          <a:solidFill>
            <a:srgbClr val="EAF3FA"/>
          </a:solidFill>
          <a:ln w="12700">
            <a:solidFill>
              <a:srgbClr val="EAF3FA"/>
            </a:solidFill>
            <a:prstDash val="solid"/>
          </a:ln>
        </p:spPr>
        <p:txBody>
          <a:bodyPr/>
          <a:lstStyle/>
          <a:p>
            <a:endParaRPr lang="en-US"/>
          </a:p>
        </p:txBody>
      </p:sp>
      <p:sp>
        <p:nvSpPr>
          <p:cNvPr id="10" name="Text 8"/>
          <p:cNvSpPr/>
          <p:nvPr/>
        </p:nvSpPr>
        <p:spPr>
          <a:xfrm>
            <a:off x="3419856" y="3236976"/>
            <a:ext cx="1901952" cy="164592"/>
          </a:xfrm>
          <a:prstGeom prst="rect">
            <a:avLst/>
          </a:prstGeom>
          <a:noFill/>
          <a:ln/>
        </p:spPr>
        <p:txBody>
          <a:bodyPr wrap="square" lIns="0" tIns="0" rIns="0" bIns="0" rtlCol="0" anchor="ctr"/>
          <a:lstStyle/>
          <a:p>
            <a:pPr marL="0" indent="0" algn="ctr">
              <a:buNone/>
            </a:pPr>
            <a:r>
              <a:rPr lang="en-US" sz="920" b="1" dirty="0">
                <a:solidFill>
                  <a:srgbClr val="4C78A8"/>
                </a:solidFill>
              </a:rPr>
              <a:t>MDD + Antidepressants</a:t>
            </a:r>
            <a:endParaRPr lang="en-US" sz="920" dirty="0"/>
          </a:p>
        </p:txBody>
      </p:sp>
      <p:sp>
        <p:nvSpPr>
          <p:cNvPr id="11" name="Shape 9"/>
          <p:cNvSpPr/>
          <p:nvPr/>
        </p:nvSpPr>
        <p:spPr>
          <a:xfrm>
            <a:off x="5486400" y="3154680"/>
            <a:ext cx="2331720" cy="347472"/>
          </a:xfrm>
          <a:prstGeom prst="roundRect">
            <a:avLst>
              <a:gd name="adj" fmla="val 15789"/>
            </a:avLst>
          </a:prstGeom>
          <a:solidFill>
            <a:srgbClr val="FFF6D6"/>
          </a:solidFill>
          <a:ln w="12700">
            <a:solidFill>
              <a:srgbClr val="FFF6D6"/>
            </a:solidFill>
            <a:prstDash val="solid"/>
          </a:ln>
        </p:spPr>
        <p:txBody>
          <a:bodyPr/>
          <a:lstStyle/>
          <a:p>
            <a:endParaRPr lang="en-US"/>
          </a:p>
        </p:txBody>
      </p:sp>
      <p:sp>
        <p:nvSpPr>
          <p:cNvPr id="12" name="Text 10"/>
          <p:cNvSpPr/>
          <p:nvPr/>
        </p:nvSpPr>
        <p:spPr>
          <a:xfrm>
            <a:off x="5596128" y="3236976"/>
            <a:ext cx="2112264" cy="164592"/>
          </a:xfrm>
          <a:prstGeom prst="rect">
            <a:avLst/>
          </a:prstGeom>
          <a:noFill/>
          <a:ln/>
        </p:spPr>
        <p:txBody>
          <a:bodyPr wrap="square" lIns="0" tIns="0" rIns="0" bIns="0" rtlCol="0" anchor="ctr"/>
          <a:lstStyle/>
          <a:p>
            <a:pPr marL="0" indent="0" algn="ctr">
              <a:buNone/>
            </a:pPr>
            <a:r>
              <a:rPr lang="en-US" sz="920" b="1" dirty="0">
                <a:solidFill>
                  <a:srgbClr val="9A6A00"/>
                </a:solidFill>
              </a:rPr>
              <a:t>LOT1 -&gt; LOT2 + overlap days</a:t>
            </a:r>
            <a:endParaRPr lang="en-US" sz="920" dirty="0"/>
          </a:p>
        </p:txBody>
      </p:sp>
      <p:sp>
        <p:nvSpPr>
          <p:cNvPr id="13" name="Shape 11"/>
          <p:cNvSpPr/>
          <p:nvPr/>
        </p:nvSpPr>
        <p:spPr>
          <a:xfrm>
            <a:off x="8275320" y="658368"/>
            <a:ext cx="3749040" cy="3749040"/>
          </a:xfrm>
          <a:prstGeom prst="arc">
            <a:avLst/>
          </a:prstGeom>
          <a:noFill/>
          <a:ln w="63500">
            <a:solidFill>
              <a:srgbClr val="2CB7B0">
                <a:alpha val="70000"/>
              </a:srgbClr>
            </a:solidFill>
            <a:prstDash val="solid"/>
          </a:ln>
        </p:spPr>
        <p:txBody>
          <a:bodyPr/>
          <a:lstStyle/>
          <a:p>
            <a:endParaRPr lang="en-US"/>
          </a:p>
        </p:txBody>
      </p:sp>
      <p:sp>
        <p:nvSpPr>
          <p:cNvPr id="14" name="Shape 12"/>
          <p:cNvSpPr/>
          <p:nvPr/>
        </p:nvSpPr>
        <p:spPr>
          <a:xfrm>
            <a:off x="8549640" y="914400"/>
            <a:ext cx="3200400" cy="3200400"/>
          </a:xfrm>
          <a:prstGeom prst="arc">
            <a:avLst/>
          </a:prstGeom>
          <a:noFill/>
          <a:ln w="63500">
            <a:solidFill>
              <a:srgbClr val="EF6F5E">
                <a:alpha val="62000"/>
              </a:srgbClr>
            </a:solidFill>
            <a:prstDash val="solid"/>
          </a:ln>
        </p:spPr>
        <p:txBody>
          <a:bodyPr/>
          <a:lstStyle/>
          <a:p>
            <a:endParaRPr lang="en-US"/>
          </a:p>
        </p:txBody>
      </p:sp>
      <p:sp>
        <p:nvSpPr>
          <p:cNvPr id="15" name="Shape 13"/>
          <p:cNvSpPr/>
          <p:nvPr/>
        </p:nvSpPr>
        <p:spPr>
          <a:xfrm>
            <a:off x="8823960" y="1188720"/>
            <a:ext cx="2651760" cy="2651760"/>
          </a:xfrm>
          <a:prstGeom prst="arc">
            <a:avLst/>
          </a:prstGeom>
          <a:noFill/>
          <a:ln w="63500">
            <a:solidFill>
              <a:srgbClr val="4C78A8">
                <a:alpha val="55000"/>
              </a:srgbClr>
            </a:solidFill>
            <a:prstDash val="solid"/>
          </a:ln>
        </p:spPr>
        <p:txBody>
          <a:bodyPr/>
          <a:lstStyle/>
          <a:p>
            <a:endParaRPr lang="en-US"/>
          </a:p>
        </p:txBody>
      </p:sp>
      <p:sp>
        <p:nvSpPr>
          <p:cNvPr id="16" name="Text 14"/>
          <p:cNvSpPr/>
          <p:nvPr/>
        </p:nvSpPr>
        <p:spPr>
          <a:xfrm>
            <a:off x="731520" y="5760720"/>
            <a:ext cx="4023360" cy="502920"/>
          </a:xfrm>
          <a:prstGeom prst="rect">
            <a:avLst/>
          </a:prstGeom>
          <a:noFill/>
          <a:ln/>
        </p:spPr>
        <p:txBody>
          <a:bodyPr wrap="square" lIns="0" tIns="0" rIns="0" bIns="0" rtlCol="0" anchor="ctr"/>
          <a:lstStyle/>
          <a:p>
            <a:pPr marL="0" indent="0">
              <a:buNone/>
            </a:pPr>
            <a:r>
              <a:rPr lang="en-US" sz="1200" dirty="0">
                <a:solidFill>
                  <a:srgbClr val="374151"/>
                </a:solidFill>
              </a:rPr>
              <a:t>Project summary deck</a:t>
            </a:r>
            <a:endParaRPr lang="en-US" sz="1200" dirty="0"/>
          </a:p>
          <a:p>
            <a:pPr marL="0" indent="0">
              <a:buNone/>
            </a:pPr>
            <a:r>
              <a:rPr lang="en-US" sz="1200" dirty="0">
                <a:solidFill>
                  <a:srgbClr val="374151"/>
                </a:solidFill>
              </a:rPr>
              <a:t>Dongfang (Kayla) Cai</a:t>
            </a:r>
            <a:endParaRPr lang="en-US" sz="1200" dirty="0"/>
          </a:p>
        </p:txBody>
      </p:sp>
      <p:sp>
        <p:nvSpPr>
          <p:cNvPr id="17" name="Text 15"/>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05" y="292608"/>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Why this project matters</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Real-world medication data can show treatment behavior that trials and prescriptions alone may miss.</a:t>
            </a:r>
            <a:endParaRPr lang="en-US" sz="1050" dirty="0"/>
          </a:p>
        </p:txBody>
      </p:sp>
      <p:sp>
        <p:nvSpPr>
          <p:cNvPr id="6" name="Shape 4"/>
          <p:cNvSpPr/>
          <p:nvPr/>
        </p:nvSpPr>
        <p:spPr>
          <a:xfrm>
            <a:off x="2606040" y="2880360"/>
            <a:ext cx="1069848" cy="0"/>
          </a:xfrm>
          <a:prstGeom prst="line">
            <a:avLst/>
          </a:prstGeom>
          <a:noFill/>
          <a:ln w="16510">
            <a:solidFill>
              <a:srgbClr val="2CB7B0"/>
            </a:solidFill>
            <a:prstDash val="solid"/>
            <a:headEnd type="none"/>
            <a:tailEnd type="triangle"/>
          </a:ln>
        </p:spPr>
        <p:txBody>
          <a:bodyPr/>
          <a:lstStyle/>
          <a:p>
            <a:endParaRPr lang="en-US"/>
          </a:p>
        </p:txBody>
      </p:sp>
      <p:sp>
        <p:nvSpPr>
          <p:cNvPr id="7" name="Shape 5"/>
          <p:cNvSpPr/>
          <p:nvPr/>
        </p:nvSpPr>
        <p:spPr>
          <a:xfrm>
            <a:off x="5596128" y="2880360"/>
            <a:ext cx="1060704" cy="0"/>
          </a:xfrm>
          <a:prstGeom prst="line">
            <a:avLst/>
          </a:prstGeom>
          <a:noFill/>
          <a:ln w="16510">
            <a:solidFill>
              <a:srgbClr val="2CB7B0"/>
            </a:solidFill>
            <a:prstDash val="solid"/>
            <a:headEnd type="none"/>
            <a:tailEnd type="triangle"/>
          </a:ln>
        </p:spPr>
        <p:txBody>
          <a:bodyPr/>
          <a:lstStyle/>
          <a:p>
            <a:endParaRPr lang="en-US"/>
          </a:p>
        </p:txBody>
      </p:sp>
      <p:sp>
        <p:nvSpPr>
          <p:cNvPr id="8" name="Shape 6"/>
          <p:cNvSpPr/>
          <p:nvPr/>
        </p:nvSpPr>
        <p:spPr>
          <a:xfrm>
            <a:off x="8631936" y="2880360"/>
            <a:ext cx="1014984" cy="0"/>
          </a:xfrm>
          <a:prstGeom prst="line">
            <a:avLst/>
          </a:prstGeom>
          <a:noFill/>
          <a:ln w="16510">
            <a:solidFill>
              <a:srgbClr val="2CB7B0"/>
            </a:solidFill>
            <a:prstDash val="solid"/>
            <a:headEnd type="none"/>
            <a:tailEnd type="triangle"/>
          </a:ln>
        </p:spPr>
        <p:txBody>
          <a:bodyPr/>
          <a:lstStyle/>
          <a:p>
            <a:endParaRPr lang="en-US"/>
          </a:p>
        </p:txBody>
      </p:sp>
      <p:sp>
        <p:nvSpPr>
          <p:cNvPr id="9" name="Shape 7"/>
          <p:cNvSpPr/>
          <p:nvPr/>
        </p:nvSpPr>
        <p:spPr>
          <a:xfrm>
            <a:off x="685800" y="2084832"/>
            <a:ext cx="1920240" cy="1600200"/>
          </a:xfrm>
          <a:prstGeom prst="roundRect">
            <a:avLst>
              <a:gd name="adj" fmla="val 4571"/>
            </a:avLst>
          </a:prstGeom>
          <a:solidFill>
            <a:srgbClr val="EAF3FA"/>
          </a:solidFill>
          <a:ln w="10160">
            <a:solidFill>
              <a:srgbClr val="D0D7DE"/>
            </a:solidFill>
            <a:prstDash val="solid"/>
          </a:ln>
        </p:spPr>
        <p:txBody>
          <a:bodyPr/>
          <a:lstStyle/>
          <a:p>
            <a:endParaRPr lang="en-US"/>
          </a:p>
        </p:txBody>
      </p:sp>
      <p:sp>
        <p:nvSpPr>
          <p:cNvPr id="10" name="Text 8"/>
          <p:cNvSpPr/>
          <p:nvPr/>
        </p:nvSpPr>
        <p:spPr>
          <a:xfrm>
            <a:off x="795528" y="2194560"/>
            <a:ext cx="1700784" cy="138074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MDD patients</a:t>
            </a:r>
            <a:endParaRPr lang="en-US" sz="1200" dirty="0"/>
          </a:p>
          <a:p>
            <a:pPr marL="0" indent="0" algn="ctr">
              <a:buNone/>
            </a:pPr>
            <a:r>
              <a:rPr lang="en-US" sz="1200" b="1" dirty="0">
                <a:solidFill>
                  <a:srgbClr val="1F3556"/>
                </a:solidFill>
              </a:rPr>
              <a:t>start treatment</a:t>
            </a:r>
            <a:endParaRPr lang="en-US" sz="1200" dirty="0"/>
          </a:p>
        </p:txBody>
      </p:sp>
      <p:sp>
        <p:nvSpPr>
          <p:cNvPr id="11" name="Shape 9"/>
          <p:cNvSpPr/>
          <p:nvPr/>
        </p:nvSpPr>
        <p:spPr>
          <a:xfrm>
            <a:off x="3703320" y="2084832"/>
            <a:ext cx="1920240" cy="1600200"/>
          </a:xfrm>
          <a:prstGeom prst="roundRect">
            <a:avLst>
              <a:gd name="adj" fmla="val 4571"/>
            </a:avLst>
          </a:prstGeom>
          <a:solidFill>
            <a:srgbClr val="E7F7F6"/>
          </a:solidFill>
          <a:ln w="10160">
            <a:solidFill>
              <a:srgbClr val="D0D7DE"/>
            </a:solidFill>
            <a:prstDash val="solid"/>
          </a:ln>
        </p:spPr>
        <p:txBody>
          <a:bodyPr/>
          <a:lstStyle/>
          <a:p>
            <a:endParaRPr lang="en-US"/>
          </a:p>
        </p:txBody>
      </p:sp>
      <p:sp>
        <p:nvSpPr>
          <p:cNvPr id="12" name="Text 10"/>
          <p:cNvSpPr/>
          <p:nvPr/>
        </p:nvSpPr>
        <p:spPr>
          <a:xfrm>
            <a:off x="3813048" y="2194560"/>
            <a:ext cx="1700784" cy="138074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Drug classes</a:t>
            </a:r>
            <a:endParaRPr lang="en-US" sz="1200" dirty="0"/>
          </a:p>
          <a:p>
            <a:pPr marL="0" indent="0" algn="ctr">
              <a:buNone/>
            </a:pPr>
            <a:r>
              <a:rPr lang="en-US" sz="1200" b="1" dirty="0">
                <a:solidFill>
                  <a:srgbClr val="1F3556"/>
                </a:solidFill>
              </a:rPr>
              <a:t>change over time</a:t>
            </a:r>
            <a:endParaRPr lang="en-US" sz="1200" dirty="0"/>
          </a:p>
        </p:txBody>
      </p:sp>
      <p:sp>
        <p:nvSpPr>
          <p:cNvPr id="13" name="Shape 11"/>
          <p:cNvSpPr/>
          <p:nvPr/>
        </p:nvSpPr>
        <p:spPr>
          <a:xfrm>
            <a:off x="6720840" y="2084832"/>
            <a:ext cx="1920240" cy="1600200"/>
          </a:xfrm>
          <a:prstGeom prst="roundRect">
            <a:avLst>
              <a:gd name="adj" fmla="val 4571"/>
            </a:avLst>
          </a:prstGeom>
          <a:solidFill>
            <a:srgbClr val="FFF6D6"/>
          </a:solidFill>
          <a:ln w="10160">
            <a:solidFill>
              <a:srgbClr val="D0D7DE"/>
            </a:solidFill>
            <a:prstDash val="solid"/>
          </a:ln>
        </p:spPr>
        <p:txBody>
          <a:bodyPr/>
          <a:lstStyle/>
          <a:p>
            <a:endParaRPr lang="en-US"/>
          </a:p>
        </p:txBody>
      </p:sp>
      <p:sp>
        <p:nvSpPr>
          <p:cNvPr id="14" name="Text 12"/>
          <p:cNvSpPr/>
          <p:nvPr/>
        </p:nvSpPr>
        <p:spPr>
          <a:xfrm>
            <a:off x="6830568" y="2194560"/>
            <a:ext cx="1700784" cy="138074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Overlap can mean</a:t>
            </a:r>
            <a:endParaRPr lang="en-US" sz="1200" dirty="0"/>
          </a:p>
          <a:p>
            <a:pPr marL="0" indent="0" algn="ctr">
              <a:buNone/>
            </a:pPr>
            <a:r>
              <a:rPr lang="en-US" sz="1200" b="1" dirty="0">
                <a:solidFill>
                  <a:srgbClr val="1F3556"/>
                </a:solidFill>
              </a:rPr>
              <a:t>switching or add-on</a:t>
            </a:r>
            <a:endParaRPr lang="en-US" sz="1200" dirty="0"/>
          </a:p>
        </p:txBody>
      </p:sp>
      <p:sp>
        <p:nvSpPr>
          <p:cNvPr id="15" name="Shape 13"/>
          <p:cNvSpPr/>
          <p:nvPr/>
        </p:nvSpPr>
        <p:spPr>
          <a:xfrm>
            <a:off x="9738360" y="2084832"/>
            <a:ext cx="1920240" cy="1600200"/>
          </a:xfrm>
          <a:prstGeom prst="roundRect">
            <a:avLst>
              <a:gd name="adj" fmla="val 4571"/>
            </a:avLst>
          </a:prstGeom>
          <a:solidFill>
            <a:srgbClr val="FCEDEB"/>
          </a:solidFill>
          <a:ln w="10160">
            <a:solidFill>
              <a:srgbClr val="D0D7DE"/>
            </a:solidFill>
            <a:prstDash val="solid"/>
          </a:ln>
        </p:spPr>
        <p:txBody>
          <a:bodyPr/>
          <a:lstStyle/>
          <a:p>
            <a:endParaRPr lang="en-US"/>
          </a:p>
        </p:txBody>
      </p:sp>
      <p:sp>
        <p:nvSpPr>
          <p:cNvPr id="16" name="Text 14"/>
          <p:cNvSpPr/>
          <p:nvPr/>
        </p:nvSpPr>
        <p:spPr>
          <a:xfrm>
            <a:off x="9848088" y="2194560"/>
            <a:ext cx="1700784" cy="138074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Patterns inform</a:t>
            </a:r>
            <a:endParaRPr lang="en-US" sz="1200" dirty="0"/>
          </a:p>
          <a:p>
            <a:pPr marL="0" indent="0" algn="ctr">
              <a:buNone/>
            </a:pPr>
            <a:r>
              <a:rPr lang="en-US" sz="1200" b="1" dirty="0">
                <a:solidFill>
                  <a:srgbClr val="1F3556"/>
                </a:solidFill>
              </a:rPr>
              <a:t>strategy &amp; safety</a:t>
            </a:r>
            <a:endParaRPr lang="en-US" sz="1200" dirty="0"/>
          </a:p>
        </p:txBody>
      </p:sp>
      <p:sp>
        <p:nvSpPr>
          <p:cNvPr id="17" name="Shape 15"/>
          <p:cNvSpPr/>
          <p:nvPr/>
        </p:nvSpPr>
        <p:spPr>
          <a:xfrm>
            <a:off x="1188720" y="4462272"/>
            <a:ext cx="9738360" cy="841248"/>
          </a:xfrm>
          <a:prstGeom prst="roundRect">
            <a:avLst>
              <a:gd name="adj" fmla="val 8696"/>
            </a:avLst>
          </a:prstGeom>
          <a:solidFill>
            <a:srgbClr val="F9FAFB"/>
          </a:solidFill>
          <a:ln w="12700">
            <a:solidFill>
              <a:srgbClr val="D0D7DE"/>
            </a:solidFill>
            <a:prstDash val="solid"/>
          </a:ln>
        </p:spPr>
        <p:txBody>
          <a:bodyPr/>
          <a:lstStyle/>
          <a:p>
            <a:endParaRPr lang="en-US"/>
          </a:p>
        </p:txBody>
      </p:sp>
      <p:sp>
        <p:nvSpPr>
          <p:cNvPr id="18" name="Text 16"/>
          <p:cNvSpPr/>
          <p:nvPr/>
        </p:nvSpPr>
        <p:spPr>
          <a:xfrm>
            <a:off x="1353312" y="4626864"/>
            <a:ext cx="9409176" cy="512064"/>
          </a:xfrm>
          <a:prstGeom prst="rect">
            <a:avLst/>
          </a:prstGeom>
          <a:noFill/>
          <a:ln/>
        </p:spPr>
        <p:txBody>
          <a:bodyPr wrap="square" lIns="381" tIns="381" rIns="381" bIns="381" rtlCol="0" anchor="ctr">
            <a:normAutofit/>
          </a:bodyPr>
          <a:lstStyle/>
          <a:p>
            <a:pPr marL="0" indent="0">
              <a:buNone/>
            </a:pPr>
            <a:r>
              <a:rPr lang="en-US" sz="1200" dirty="0">
                <a:solidFill>
                  <a:srgbClr val="1F3556"/>
                </a:solidFill>
              </a:rPr>
              <a:t>For a pharma or health-system audience: this turns messy EHR medication records into actionable evidence on switching, augmentation, persistence, and possible drug-drug interaction context.</a:t>
            </a:r>
            <a:endParaRPr lang="en-US" sz="1200" dirty="0"/>
          </a:p>
        </p:txBody>
      </p:sp>
      <p:sp>
        <p:nvSpPr>
          <p:cNvPr id="19" name="Text 17"/>
          <p:cNvSpPr/>
          <p:nvPr/>
        </p:nvSpPr>
        <p:spPr>
          <a:xfrm>
            <a:off x="685800" y="5532120"/>
            <a:ext cx="1143000" cy="228600"/>
          </a:xfrm>
          <a:prstGeom prst="rect">
            <a:avLst/>
          </a:prstGeom>
          <a:noFill/>
          <a:ln/>
        </p:spPr>
        <p:txBody>
          <a:bodyPr wrap="square" lIns="0" tIns="0" rIns="0" bIns="0" rtlCol="0" anchor="ctr"/>
          <a:lstStyle/>
          <a:p>
            <a:pPr marL="0" indent="0">
              <a:buNone/>
            </a:pPr>
            <a:r>
              <a:rPr lang="en-US" sz="1100" b="1" dirty="0">
                <a:solidFill>
                  <a:srgbClr val="1F3556"/>
                </a:solidFill>
              </a:rPr>
              <a:t>Business value</a:t>
            </a:r>
            <a:endParaRPr lang="en-US" sz="1100" dirty="0"/>
          </a:p>
        </p:txBody>
      </p:sp>
      <p:sp>
        <p:nvSpPr>
          <p:cNvPr id="20" name="Text 18"/>
          <p:cNvSpPr/>
          <p:nvPr/>
        </p:nvSpPr>
        <p:spPr>
          <a:xfrm>
            <a:off x="2331720" y="5532120"/>
            <a:ext cx="8823960" cy="320040"/>
          </a:xfrm>
          <a:prstGeom prst="rect">
            <a:avLst/>
          </a:prstGeom>
          <a:noFill/>
          <a:ln/>
        </p:spPr>
        <p:txBody>
          <a:bodyPr wrap="square" lIns="0" tIns="0" rIns="0" bIns="0" rtlCol="0" anchor="ctr"/>
          <a:lstStyle/>
          <a:p>
            <a:pPr marL="0" indent="0">
              <a:buNone/>
            </a:pPr>
            <a:r>
              <a:rPr lang="en-US" sz="1100" dirty="0">
                <a:solidFill>
                  <a:srgbClr val="374151"/>
                </a:solidFill>
              </a:rPr>
              <a:t>Identify common treatment paths, quantify real-world transition timing, and create reusable code that can scale to other drug classes or outcomes.</a:t>
            </a:r>
            <a:endParaRPr lang="en-US" sz="1100" dirty="0"/>
          </a:p>
        </p:txBody>
      </p:sp>
      <p:sp>
        <p:nvSpPr>
          <p:cNvPr id="21" name="Text 19"/>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425" y="292608"/>
            <a:ext cx="12191695" cy="6858000"/>
          </a:xfrm>
          <a:prstGeom prst="rect">
            <a:avLst/>
          </a:prstGeom>
          <a:solidFill>
            <a:srgbClr val="FFFFFF"/>
          </a:solidFill>
          <a:ln w="12700">
            <a:solidFill>
              <a:srgbClr val="FFFFFF"/>
            </a:solidFill>
            <a:prstDash val="solid"/>
          </a:ln>
        </p:spPr>
        <p:txBody>
          <a:bodyPr/>
          <a:lstStyle/>
          <a:p>
            <a:endParaRPr lang="en-US" dirty="0">
              <a:highlight>
                <a:srgbClr val="FFFF00"/>
              </a:highlight>
            </a:endParaRPr>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Data source and analytic cohort</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All of Us Controlled Tier CDRv8, structured using the OMOP Common Data Model.</a:t>
            </a:r>
            <a:endParaRPr lang="en-US" sz="1050" dirty="0"/>
          </a:p>
        </p:txBody>
      </p:sp>
      <p:sp>
        <p:nvSpPr>
          <p:cNvPr id="6" name="Shape 4"/>
          <p:cNvSpPr/>
          <p:nvPr/>
        </p:nvSpPr>
        <p:spPr>
          <a:xfrm>
            <a:off x="2761488" y="3108960"/>
            <a:ext cx="1042416" cy="0"/>
          </a:xfrm>
          <a:prstGeom prst="line">
            <a:avLst/>
          </a:prstGeom>
          <a:noFill/>
          <a:ln w="16510">
            <a:solidFill>
              <a:srgbClr val="6B7280"/>
            </a:solidFill>
            <a:prstDash val="solid"/>
            <a:headEnd type="none"/>
            <a:tailEnd type="triangle"/>
          </a:ln>
        </p:spPr>
        <p:txBody>
          <a:bodyPr/>
          <a:lstStyle/>
          <a:p>
            <a:endParaRPr lang="en-US"/>
          </a:p>
        </p:txBody>
      </p:sp>
      <p:sp>
        <p:nvSpPr>
          <p:cNvPr id="7" name="Shape 5"/>
          <p:cNvSpPr/>
          <p:nvPr/>
        </p:nvSpPr>
        <p:spPr>
          <a:xfrm>
            <a:off x="5824728" y="3108960"/>
            <a:ext cx="1033272" cy="0"/>
          </a:xfrm>
          <a:prstGeom prst="line">
            <a:avLst/>
          </a:prstGeom>
          <a:noFill/>
          <a:ln w="16510">
            <a:solidFill>
              <a:srgbClr val="6B7280"/>
            </a:solidFill>
            <a:prstDash val="solid"/>
            <a:headEnd type="none"/>
            <a:tailEnd type="triangle"/>
          </a:ln>
        </p:spPr>
        <p:txBody>
          <a:bodyPr/>
          <a:lstStyle/>
          <a:p>
            <a:endParaRPr lang="en-US"/>
          </a:p>
        </p:txBody>
      </p:sp>
      <p:sp>
        <p:nvSpPr>
          <p:cNvPr id="8" name="Shape 6"/>
          <p:cNvSpPr/>
          <p:nvPr/>
        </p:nvSpPr>
        <p:spPr>
          <a:xfrm>
            <a:off x="8900160" y="3108960"/>
            <a:ext cx="1042416" cy="0"/>
          </a:xfrm>
          <a:prstGeom prst="line">
            <a:avLst/>
          </a:prstGeom>
          <a:noFill/>
          <a:ln w="16510">
            <a:solidFill>
              <a:srgbClr val="6B7280"/>
            </a:solidFill>
            <a:prstDash val="solid"/>
            <a:headEnd type="none"/>
            <a:tailEnd type="triangle"/>
          </a:ln>
        </p:spPr>
        <p:txBody>
          <a:bodyPr/>
          <a:lstStyle/>
          <a:p>
            <a:endParaRPr lang="en-US"/>
          </a:p>
        </p:txBody>
      </p:sp>
      <p:sp>
        <p:nvSpPr>
          <p:cNvPr id="9" name="Shape 7"/>
          <p:cNvSpPr/>
          <p:nvPr/>
        </p:nvSpPr>
        <p:spPr>
          <a:xfrm>
            <a:off x="640080" y="2331720"/>
            <a:ext cx="2103120" cy="1554480"/>
          </a:xfrm>
          <a:prstGeom prst="roundRect">
            <a:avLst>
              <a:gd name="adj" fmla="val 4706"/>
            </a:avLst>
          </a:prstGeom>
          <a:solidFill>
            <a:srgbClr val="F2F6FB"/>
          </a:solidFill>
          <a:ln w="10160">
            <a:solidFill>
              <a:srgbClr val="D0D7DE"/>
            </a:solidFill>
            <a:prstDash val="solid"/>
          </a:ln>
        </p:spPr>
        <p:txBody>
          <a:bodyPr/>
          <a:lstStyle/>
          <a:p>
            <a:endParaRPr lang="en-US"/>
          </a:p>
        </p:txBody>
      </p:sp>
      <p:sp>
        <p:nvSpPr>
          <p:cNvPr id="10" name="Text 8"/>
          <p:cNvSpPr/>
          <p:nvPr/>
        </p:nvSpPr>
        <p:spPr>
          <a:xfrm>
            <a:off x="749808" y="2441448"/>
            <a:ext cx="1883664" cy="133502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393,601</a:t>
            </a:r>
            <a:endParaRPr lang="en-US" sz="1200" dirty="0"/>
          </a:p>
          <a:p>
            <a:pPr marL="0" indent="0" algn="ctr">
              <a:buNone/>
            </a:pPr>
            <a:r>
              <a:rPr lang="en-US" sz="1200" b="1" dirty="0">
                <a:solidFill>
                  <a:srgbClr val="1F3556"/>
                </a:solidFill>
              </a:rPr>
              <a:t>participants</a:t>
            </a:r>
            <a:endParaRPr lang="en-US" sz="1200" dirty="0"/>
          </a:p>
          <a:p>
            <a:pPr marL="0" indent="0" algn="ctr">
              <a:buNone/>
            </a:pPr>
            <a:r>
              <a:rPr lang="en-US" sz="1200" b="1" dirty="0">
                <a:solidFill>
                  <a:srgbClr val="1F3556"/>
                </a:solidFill>
              </a:rPr>
              <a:t>with EHR data</a:t>
            </a:r>
            <a:endParaRPr lang="en-US" sz="1200" dirty="0"/>
          </a:p>
        </p:txBody>
      </p:sp>
      <p:sp>
        <p:nvSpPr>
          <p:cNvPr id="11" name="Shape 9"/>
          <p:cNvSpPr/>
          <p:nvPr/>
        </p:nvSpPr>
        <p:spPr>
          <a:xfrm>
            <a:off x="3840480" y="2331720"/>
            <a:ext cx="1965960" cy="1554480"/>
          </a:xfrm>
          <a:prstGeom prst="roundRect">
            <a:avLst>
              <a:gd name="adj" fmla="val 4706"/>
            </a:avLst>
          </a:prstGeom>
          <a:solidFill>
            <a:srgbClr val="EAF3FA"/>
          </a:solidFill>
          <a:ln w="10160">
            <a:solidFill>
              <a:srgbClr val="D0D7DE"/>
            </a:solidFill>
            <a:prstDash val="solid"/>
          </a:ln>
        </p:spPr>
        <p:txBody>
          <a:bodyPr/>
          <a:lstStyle/>
          <a:p>
            <a:endParaRPr lang="en-US"/>
          </a:p>
        </p:txBody>
      </p:sp>
      <p:sp>
        <p:nvSpPr>
          <p:cNvPr id="12" name="Text 10"/>
          <p:cNvSpPr/>
          <p:nvPr/>
        </p:nvSpPr>
        <p:spPr>
          <a:xfrm>
            <a:off x="3950208" y="2441448"/>
            <a:ext cx="1746504" cy="133502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86,778</a:t>
            </a:r>
            <a:endParaRPr lang="en-US" sz="1200" dirty="0"/>
          </a:p>
          <a:p>
            <a:pPr marL="0" indent="0" algn="ctr">
              <a:buNone/>
            </a:pPr>
            <a:r>
              <a:rPr lang="en-US" sz="1200" b="1" dirty="0">
                <a:solidFill>
                  <a:srgbClr val="1F3556"/>
                </a:solidFill>
              </a:rPr>
              <a:t>patients with</a:t>
            </a:r>
            <a:endParaRPr lang="en-US" sz="1200" dirty="0"/>
          </a:p>
          <a:p>
            <a:pPr marL="0" indent="0" algn="ctr">
              <a:buNone/>
            </a:pPr>
            <a:r>
              <a:rPr lang="en-US" sz="1200" b="1" dirty="0">
                <a:solidFill>
                  <a:srgbClr val="1F3556"/>
                </a:solidFill>
              </a:rPr>
              <a:t>MDD diagnosis</a:t>
            </a:r>
            <a:endParaRPr lang="en-US" sz="1200" dirty="0"/>
          </a:p>
        </p:txBody>
      </p:sp>
      <p:sp>
        <p:nvSpPr>
          <p:cNvPr id="13" name="Shape 11"/>
          <p:cNvSpPr/>
          <p:nvPr/>
        </p:nvSpPr>
        <p:spPr>
          <a:xfrm>
            <a:off x="6903720" y="2331720"/>
            <a:ext cx="1965960" cy="1554480"/>
          </a:xfrm>
          <a:prstGeom prst="roundRect">
            <a:avLst>
              <a:gd name="adj" fmla="val 4706"/>
            </a:avLst>
          </a:prstGeom>
          <a:solidFill>
            <a:srgbClr val="E7F7F6"/>
          </a:solidFill>
          <a:ln w="10160">
            <a:solidFill>
              <a:srgbClr val="D0D7DE"/>
            </a:solidFill>
            <a:prstDash val="solid"/>
          </a:ln>
        </p:spPr>
        <p:txBody>
          <a:bodyPr/>
          <a:lstStyle/>
          <a:p>
            <a:endParaRPr lang="en-US"/>
          </a:p>
        </p:txBody>
      </p:sp>
      <p:sp>
        <p:nvSpPr>
          <p:cNvPr id="14" name="Text 12"/>
          <p:cNvSpPr/>
          <p:nvPr/>
        </p:nvSpPr>
        <p:spPr>
          <a:xfrm>
            <a:off x="6989064" y="2368295"/>
            <a:ext cx="1856232" cy="1444751"/>
          </a:xfrm>
          <a:prstGeom prst="rect">
            <a:avLst/>
          </a:prstGeom>
          <a:noFill/>
          <a:ln/>
        </p:spPr>
        <p:txBody>
          <a:bodyPr wrap="square" lIns="0" tIns="0" rIns="0" bIns="0" rtlCol="0" anchor="ctr">
            <a:normAutofit/>
          </a:bodyPr>
          <a:lstStyle/>
          <a:p>
            <a:pPr marL="0" indent="0" algn="ctr">
              <a:buNone/>
            </a:pPr>
            <a:endParaRPr lang="en-US" sz="1200" b="1" dirty="0">
              <a:solidFill>
                <a:srgbClr val="1F3556"/>
              </a:solidFill>
              <a:highlight>
                <a:srgbClr val="FFFF00"/>
              </a:highlight>
            </a:endParaRPr>
          </a:p>
          <a:p>
            <a:pPr algn="ctr"/>
            <a:r>
              <a:rPr lang="en-CA" sz="1200" b="1" dirty="0">
                <a:solidFill>
                  <a:srgbClr val="1F3556"/>
                </a:solidFill>
              </a:rPr>
              <a:t>68,301</a:t>
            </a:r>
          </a:p>
          <a:p>
            <a:pPr algn="ctr"/>
            <a:r>
              <a:rPr lang="zh-CN" altLang="en-US" sz="1200" b="1" dirty="0">
                <a:solidFill>
                  <a:srgbClr val="1F3556"/>
                </a:solidFill>
              </a:rPr>
              <a:t> </a:t>
            </a:r>
            <a:r>
              <a:rPr lang="en-CA" sz="1200" b="1" dirty="0">
                <a:solidFill>
                  <a:srgbClr val="1F3556"/>
                </a:solidFill>
              </a:rPr>
              <a:t>patients with ≥1 antidepressant exposure on or</a:t>
            </a:r>
            <a:r>
              <a:rPr lang="zh-CN" altLang="en-US" sz="1200" b="1" dirty="0">
                <a:solidFill>
                  <a:srgbClr val="1F3556"/>
                </a:solidFill>
              </a:rPr>
              <a:t> </a:t>
            </a:r>
            <a:r>
              <a:rPr lang="en-CA" sz="1200" b="1" dirty="0">
                <a:solidFill>
                  <a:srgbClr val="1F3556"/>
                </a:solidFill>
              </a:rPr>
              <a:t>after index MDD diagnosis (for entire study period 1981-2023)</a:t>
            </a:r>
            <a:endParaRPr lang="en-US" sz="1200" dirty="0">
              <a:highlight>
                <a:srgbClr val="FFFF00"/>
              </a:highlight>
            </a:endParaRPr>
          </a:p>
        </p:txBody>
      </p:sp>
      <p:sp>
        <p:nvSpPr>
          <p:cNvPr id="15" name="Shape 13"/>
          <p:cNvSpPr/>
          <p:nvPr/>
        </p:nvSpPr>
        <p:spPr>
          <a:xfrm>
            <a:off x="9948672" y="2331720"/>
            <a:ext cx="1664208" cy="1554480"/>
          </a:xfrm>
          <a:prstGeom prst="roundRect">
            <a:avLst>
              <a:gd name="adj" fmla="val 4706"/>
            </a:avLst>
          </a:prstGeom>
          <a:solidFill>
            <a:srgbClr val="FFF6D6"/>
          </a:solidFill>
          <a:ln w="10160">
            <a:solidFill>
              <a:srgbClr val="D0D7DE"/>
            </a:solidFill>
            <a:prstDash val="solid"/>
          </a:ln>
        </p:spPr>
        <p:txBody>
          <a:bodyPr/>
          <a:lstStyle/>
          <a:p>
            <a:endParaRPr lang="en-US"/>
          </a:p>
        </p:txBody>
      </p:sp>
      <p:sp>
        <p:nvSpPr>
          <p:cNvPr id="16" name="Text 14"/>
          <p:cNvSpPr/>
          <p:nvPr/>
        </p:nvSpPr>
        <p:spPr>
          <a:xfrm>
            <a:off x="10058400" y="2441448"/>
            <a:ext cx="1444752" cy="133502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62,448</a:t>
            </a:r>
            <a:endParaRPr lang="en-US" sz="1200" dirty="0"/>
          </a:p>
          <a:p>
            <a:pPr marL="0" indent="0" algn="ctr">
              <a:buNone/>
            </a:pPr>
            <a:r>
              <a:rPr lang="en-US" sz="1200" b="1" dirty="0">
                <a:solidFill>
                  <a:srgbClr val="1F3556"/>
                </a:solidFill>
              </a:rPr>
              <a:t>mono-class</a:t>
            </a:r>
            <a:endParaRPr lang="en-US" sz="1200" dirty="0"/>
          </a:p>
          <a:p>
            <a:pPr marL="0" indent="0" algn="ctr">
              <a:buNone/>
            </a:pPr>
            <a:r>
              <a:rPr lang="en-US" sz="1200" b="1" dirty="0">
                <a:solidFill>
                  <a:srgbClr val="1F3556"/>
                </a:solidFill>
              </a:rPr>
              <a:t>index cohort</a:t>
            </a:r>
            <a:r>
              <a:rPr lang="en-US" altLang="zh-CN" sz="1200" b="1" baseline="30000" dirty="0">
                <a:solidFill>
                  <a:srgbClr val="1F3556"/>
                </a:solidFill>
              </a:rPr>
              <a:t>1</a:t>
            </a:r>
            <a:endParaRPr lang="en-US" sz="1200" baseline="30000" dirty="0"/>
          </a:p>
        </p:txBody>
      </p:sp>
      <p:sp>
        <p:nvSpPr>
          <p:cNvPr id="18" name="Text 16"/>
          <p:cNvSpPr/>
          <p:nvPr/>
        </p:nvSpPr>
        <p:spPr>
          <a:xfrm>
            <a:off x="640080" y="4480559"/>
            <a:ext cx="10607040" cy="594357"/>
          </a:xfrm>
          <a:prstGeom prst="rect">
            <a:avLst/>
          </a:prstGeom>
          <a:noFill/>
          <a:ln/>
        </p:spPr>
        <p:txBody>
          <a:bodyPr wrap="square" lIns="0" tIns="0" rIns="0" bIns="0" rtlCol="0" anchor="ctr"/>
          <a:lstStyle/>
          <a:p>
            <a:r>
              <a:rPr lang="en-CA" sz="1200" dirty="0">
                <a:solidFill>
                  <a:srgbClr val="1F3556"/>
                </a:solidFill>
              </a:rPr>
              <a:t>The analytic cohort was predominantly older adults, female, and White: 39% were &gt;65 years old, 60% identified as female by gender, 61% were female by sex at birth, and the largest race groups were White (55%) and Black or African American (17%). </a:t>
            </a:r>
            <a:r>
              <a:rPr lang="en-US" sz="1200" dirty="0">
                <a:solidFill>
                  <a:srgbClr val="1F3556"/>
                </a:solidFill>
              </a:rPr>
              <a:t>CDRv8 data cutoff used in project workflow: October 1, 2023.</a:t>
            </a:r>
          </a:p>
          <a:p>
            <a:endParaRPr lang="en-CA" sz="1200" dirty="0">
              <a:solidFill>
                <a:srgbClr val="1F3556"/>
              </a:solidFill>
            </a:endParaRPr>
          </a:p>
          <a:p>
            <a:pPr marL="0" indent="0">
              <a:buNone/>
            </a:pPr>
            <a:endParaRPr lang="en-US" sz="1120" dirty="0"/>
          </a:p>
        </p:txBody>
      </p:sp>
      <p:sp>
        <p:nvSpPr>
          <p:cNvPr id="20" name="Text 18"/>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3</a:t>
            </a:r>
            <a:endParaRPr lang="en-US" sz="750" dirty="0"/>
          </a:p>
        </p:txBody>
      </p:sp>
      <p:sp>
        <p:nvSpPr>
          <p:cNvPr id="17" name="Text 17">
            <a:extLst>
              <a:ext uri="{FF2B5EF4-FFF2-40B4-BE49-F238E27FC236}">
                <a16:creationId xmlns:a16="http://schemas.microsoft.com/office/drawing/2014/main" id="{FFA4A79A-2753-03E7-76F2-B2CC68E91B1E}"/>
              </a:ext>
            </a:extLst>
          </p:cNvPr>
          <p:cNvSpPr/>
          <p:nvPr/>
        </p:nvSpPr>
        <p:spPr>
          <a:xfrm>
            <a:off x="640080" y="5074916"/>
            <a:ext cx="10698480" cy="1170432"/>
          </a:xfrm>
          <a:prstGeom prst="rect">
            <a:avLst/>
          </a:prstGeom>
          <a:noFill/>
          <a:ln/>
        </p:spPr>
        <p:txBody>
          <a:bodyPr wrap="square" lIns="0" tIns="0" rIns="0" bIns="0" rtlCol="0" anchor="ctr"/>
          <a:lstStyle/>
          <a:p>
            <a:r>
              <a:rPr lang="en-US" sz="1040" i="1" dirty="0">
                <a:solidFill>
                  <a:srgbClr val="6B7280"/>
                </a:solidFill>
              </a:rPr>
              <a:t>1. Mono-class index cohort –</a:t>
            </a:r>
            <a:r>
              <a:rPr lang="en-CA" sz="1040" i="1" dirty="0">
                <a:solidFill>
                  <a:srgbClr val="6B7280"/>
                </a:solidFill>
              </a:rPr>
              <a:t>patients with a single antidepressant class on the index antidepressant date. The index antidepressant date was defined as the earliest antidepressant exposure date after the first MDD diagnosis. If a patient started multiple antidepressant classes on the same index date, they were excluded from the mono-class index cohort.</a:t>
            </a:r>
            <a:endParaRPr lang="en-US" sz="1040" i="1" dirty="0">
              <a:solidFill>
                <a:srgbClr val="6B728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772" y="292608"/>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Project objective and deliverables</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The goal was to create a reproducible treatment-pattern workflow, not just one table.</a:t>
            </a:r>
            <a:endParaRPr lang="en-US" sz="1050" dirty="0"/>
          </a:p>
        </p:txBody>
      </p:sp>
      <p:sp>
        <p:nvSpPr>
          <p:cNvPr id="6" name="Shape 4"/>
          <p:cNvSpPr/>
          <p:nvPr/>
        </p:nvSpPr>
        <p:spPr>
          <a:xfrm>
            <a:off x="777240" y="1188720"/>
            <a:ext cx="10652760" cy="804672"/>
          </a:xfrm>
          <a:prstGeom prst="roundRect">
            <a:avLst>
              <a:gd name="adj" fmla="val 9091"/>
            </a:avLst>
          </a:prstGeom>
          <a:solidFill>
            <a:srgbClr val="EAF3FA"/>
          </a:solidFill>
          <a:ln w="12700">
            <a:solidFill>
              <a:srgbClr val="4C78A8"/>
            </a:solidFill>
            <a:prstDash val="solid"/>
          </a:ln>
        </p:spPr>
        <p:txBody>
          <a:bodyPr/>
          <a:lstStyle/>
          <a:p>
            <a:endParaRPr lang="en-US"/>
          </a:p>
        </p:txBody>
      </p:sp>
      <p:sp>
        <p:nvSpPr>
          <p:cNvPr id="7" name="Text 5"/>
          <p:cNvSpPr/>
          <p:nvPr/>
        </p:nvSpPr>
        <p:spPr>
          <a:xfrm>
            <a:off x="941832" y="1353312"/>
            <a:ext cx="10323576" cy="475488"/>
          </a:xfrm>
          <a:prstGeom prst="rect">
            <a:avLst/>
          </a:prstGeom>
          <a:noFill/>
          <a:ln/>
        </p:spPr>
        <p:txBody>
          <a:bodyPr wrap="square" lIns="381" tIns="381" rIns="381" bIns="381" rtlCol="0" anchor="ctr">
            <a:normAutofit/>
          </a:bodyPr>
          <a:lstStyle/>
          <a:p>
            <a:pPr marL="0" indent="0">
              <a:buNone/>
            </a:pPr>
            <a:r>
              <a:rPr lang="en-US" sz="1200" dirty="0">
                <a:solidFill>
                  <a:srgbClr val="1F3556"/>
                </a:solidFill>
              </a:rPr>
              <a:t>Objective: characterize antidepressant treatment patterns among MDD patients, first treatment class, subsequent treatment class, and overlap timing.</a:t>
            </a:r>
            <a:endParaRPr lang="en-US" sz="1200" dirty="0"/>
          </a:p>
        </p:txBody>
      </p:sp>
      <p:sp>
        <p:nvSpPr>
          <p:cNvPr id="8" name="Text 6"/>
          <p:cNvSpPr/>
          <p:nvPr/>
        </p:nvSpPr>
        <p:spPr>
          <a:xfrm>
            <a:off x="777240" y="2075688"/>
            <a:ext cx="4114800" cy="228600"/>
          </a:xfrm>
          <a:prstGeom prst="rect">
            <a:avLst/>
          </a:prstGeom>
          <a:noFill/>
          <a:ln/>
        </p:spPr>
        <p:txBody>
          <a:bodyPr wrap="square" lIns="0" tIns="0" rIns="0" bIns="0" rtlCol="0" anchor="ctr"/>
          <a:lstStyle/>
          <a:p>
            <a:pPr marL="0" indent="0">
              <a:buNone/>
            </a:pPr>
            <a:r>
              <a:rPr lang="en-US" sz="1100" b="1" dirty="0">
                <a:solidFill>
                  <a:srgbClr val="1F3556"/>
                </a:solidFill>
              </a:rPr>
              <a:t>Analytic question</a:t>
            </a:r>
            <a:endParaRPr lang="en-US" sz="1100" dirty="0"/>
          </a:p>
        </p:txBody>
      </p:sp>
      <p:sp>
        <p:nvSpPr>
          <p:cNvPr id="9" name="Text 7"/>
          <p:cNvSpPr/>
          <p:nvPr/>
        </p:nvSpPr>
        <p:spPr>
          <a:xfrm>
            <a:off x="5532120" y="2075688"/>
            <a:ext cx="4114800" cy="228600"/>
          </a:xfrm>
          <a:prstGeom prst="rect">
            <a:avLst/>
          </a:prstGeom>
          <a:noFill/>
          <a:ln/>
        </p:spPr>
        <p:txBody>
          <a:bodyPr wrap="square" lIns="0" tIns="0" rIns="0" bIns="0" rtlCol="0" anchor="ctr"/>
          <a:lstStyle/>
          <a:p>
            <a:pPr marL="0" indent="0">
              <a:buNone/>
            </a:pPr>
            <a:r>
              <a:rPr lang="en-US" sz="1100" b="1" dirty="0">
                <a:solidFill>
                  <a:srgbClr val="1F3556"/>
                </a:solidFill>
              </a:rPr>
              <a:t>Output created</a:t>
            </a:r>
            <a:endParaRPr lang="en-US" sz="1100" dirty="0"/>
          </a:p>
        </p:txBody>
      </p:sp>
      <p:sp>
        <p:nvSpPr>
          <p:cNvPr id="10" name="Shape 8"/>
          <p:cNvSpPr/>
          <p:nvPr/>
        </p:nvSpPr>
        <p:spPr>
          <a:xfrm>
            <a:off x="726948" y="2432304"/>
            <a:ext cx="10652760" cy="530352"/>
          </a:xfrm>
          <a:prstGeom prst="rect">
            <a:avLst/>
          </a:prstGeom>
          <a:solidFill>
            <a:srgbClr val="F9FAFB"/>
          </a:solidFill>
          <a:ln w="6350">
            <a:solidFill>
              <a:srgbClr val="E5E7EB"/>
            </a:solidFill>
            <a:prstDash val="solid"/>
          </a:ln>
        </p:spPr>
        <p:txBody>
          <a:bodyPr/>
          <a:lstStyle/>
          <a:p>
            <a:endParaRPr lang="en-US"/>
          </a:p>
        </p:txBody>
      </p:sp>
      <p:sp>
        <p:nvSpPr>
          <p:cNvPr id="11" name="Text 9"/>
          <p:cNvSpPr/>
          <p:nvPr/>
        </p:nvSpPr>
        <p:spPr>
          <a:xfrm>
            <a:off x="941832" y="2551176"/>
            <a:ext cx="4297680" cy="201168"/>
          </a:xfrm>
          <a:prstGeom prst="rect">
            <a:avLst/>
          </a:prstGeom>
          <a:noFill/>
          <a:ln/>
        </p:spPr>
        <p:txBody>
          <a:bodyPr wrap="square" lIns="0" tIns="0" rIns="0" bIns="0" rtlCol="0" anchor="ctr"/>
          <a:lstStyle/>
          <a:p>
            <a:pPr marL="0" indent="0">
              <a:buNone/>
            </a:pPr>
            <a:r>
              <a:rPr lang="en-US" sz="1100" dirty="0">
                <a:solidFill>
                  <a:srgbClr val="374151"/>
                </a:solidFill>
              </a:rPr>
              <a:t>Who enters the cohort?</a:t>
            </a:r>
            <a:endParaRPr lang="en-US" sz="1100" dirty="0"/>
          </a:p>
        </p:txBody>
      </p:sp>
      <p:sp>
        <p:nvSpPr>
          <p:cNvPr id="12" name="Text 10"/>
          <p:cNvSpPr/>
          <p:nvPr/>
        </p:nvSpPr>
        <p:spPr>
          <a:xfrm>
            <a:off x="5532120" y="2551176"/>
            <a:ext cx="5303520" cy="201168"/>
          </a:xfrm>
          <a:prstGeom prst="rect">
            <a:avLst/>
          </a:prstGeom>
          <a:noFill/>
          <a:ln/>
        </p:spPr>
        <p:txBody>
          <a:bodyPr wrap="square" lIns="0" tIns="0" rIns="0" bIns="0" rtlCol="0" anchor="ctr"/>
          <a:lstStyle/>
          <a:p>
            <a:pPr marL="0" indent="0">
              <a:buNone/>
            </a:pPr>
            <a:r>
              <a:rPr lang="en-US" sz="1100" b="1" dirty="0">
                <a:solidFill>
                  <a:srgbClr val="1F3556"/>
                </a:solidFill>
              </a:rPr>
              <a:t>Attrition + patient characteristics</a:t>
            </a:r>
            <a:endParaRPr lang="en-US" sz="1100" dirty="0"/>
          </a:p>
        </p:txBody>
      </p:sp>
      <p:sp>
        <p:nvSpPr>
          <p:cNvPr id="13" name="Shape 11"/>
          <p:cNvSpPr/>
          <p:nvPr/>
        </p:nvSpPr>
        <p:spPr>
          <a:xfrm>
            <a:off x="777240" y="2999232"/>
            <a:ext cx="10652760" cy="530352"/>
          </a:xfrm>
          <a:prstGeom prst="rect">
            <a:avLst/>
          </a:prstGeom>
          <a:solidFill>
            <a:srgbClr val="FFFFFF"/>
          </a:solidFill>
          <a:ln w="6350">
            <a:solidFill>
              <a:srgbClr val="E5E7EB"/>
            </a:solidFill>
            <a:prstDash val="solid"/>
          </a:ln>
        </p:spPr>
        <p:txBody>
          <a:bodyPr/>
          <a:lstStyle/>
          <a:p>
            <a:endParaRPr lang="en-US"/>
          </a:p>
        </p:txBody>
      </p:sp>
      <p:sp>
        <p:nvSpPr>
          <p:cNvPr id="14" name="Text 12"/>
          <p:cNvSpPr/>
          <p:nvPr/>
        </p:nvSpPr>
        <p:spPr>
          <a:xfrm>
            <a:off x="941832" y="3127248"/>
            <a:ext cx="4297680" cy="201168"/>
          </a:xfrm>
          <a:prstGeom prst="rect">
            <a:avLst/>
          </a:prstGeom>
          <a:noFill/>
          <a:ln/>
        </p:spPr>
        <p:txBody>
          <a:bodyPr wrap="square" lIns="0" tIns="0" rIns="0" bIns="0" rtlCol="0" anchor="ctr"/>
          <a:lstStyle/>
          <a:p>
            <a:pPr marL="0" indent="0">
              <a:buNone/>
            </a:pPr>
            <a:r>
              <a:rPr lang="en-US" sz="1100" dirty="0">
                <a:solidFill>
                  <a:srgbClr val="374151"/>
                </a:solidFill>
              </a:rPr>
              <a:t>Which antidepressant class starts treatment?</a:t>
            </a:r>
            <a:endParaRPr lang="en-US" sz="1100" dirty="0"/>
          </a:p>
        </p:txBody>
      </p:sp>
      <p:sp>
        <p:nvSpPr>
          <p:cNvPr id="15" name="Text 13"/>
          <p:cNvSpPr/>
          <p:nvPr/>
        </p:nvSpPr>
        <p:spPr>
          <a:xfrm>
            <a:off x="5532120" y="3127248"/>
            <a:ext cx="5303520" cy="201168"/>
          </a:xfrm>
          <a:prstGeom prst="rect">
            <a:avLst/>
          </a:prstGeom>
          <a:noFill/>
          <a:ln/>
        </p:spPr>
        <p:txBody>
          <a:bodyPr wrap="square" lIns="0" tIns="0" rIns="0" bIns="0" rtlCol="0" anchor="ctr"/>
          <a:lstStyle/>
          <a:p>
            <a:pPr marL="0" indent="0">
              <a:buNone/>
            </a:pPr>
            <a:r>
              <a:rPr lang="en-US" sz="1100" b="1" dirty="0">
                <a:solidFill>
                  <a:srgbClr val="1F3556"/>
                </a:solidFill>
              </a:rPr>
              <a:t>Index drug class distribution</a:t>
            </a:r>
            <a:endParaRPr lang="en-US" sz="1100" dirty="0"/>
          </a:p>
        </p:txBody>
      </p:sp>
      <p:sp>
        <p:nvSpPr>
          <p:cNvPr id="16" name="Shape 14"/>
          <p:cNvSpPr/>
          <p:nvPr/>
        </p:nvSpPr>
        <p:spPr>
          <a:xfrm>
            <a:off x="777240" y="3575304"/>
            <a:ext cx="10652760" cy="530352"/>
          </a:xfrm>
          <a:prstGeom prst="rect">
            <a:avLst/>
          </a:prstGeom>
          <a:solidFill>
            <a:srgbClr val="F9FAFB"/>
          </a:solidFill>
          <a:ln w="6350">
            <a:solidFill>
              <a:srgbClr val="E5E7EB"/>
            </a:solidFill>
            <a:prstDash val="solid"/>
          </a:ln>
        </p:spPr>
        <p:txBody>
          <a:bodyPr/>
          <a:lstStyle/>
          <a:p>
            <a:endParaRPr lang="en-US"/>
          </a:p>
        </p:txBody>
      </p:sp>
      <p:sp>
        <p:nvSpPr>
          <p:cNvPr id="17" name="Text 15"/>
          <p:cNvSpPr/>
          <p:nvPr/>
        </p:nvSpPr>
        <p:spPr>
          <a:xfrm>
            <a:off x="941832" y="3703320"/>
            <a:ext cx="4297680" cy="201168"/>
          </a:xfrm>
          <a:prstGeom prst="rect">
            <a:avLst/>
          </a:prstGeom>
          <a:noFill/>
          <a:ln/>
        </p:spPr>
        <p:txBody>
          <a:bodyPr wrap="square" lIns="0" tIns="0" rIns="0" bIns="0" rtlCol="0" anchor="ctr"/>
          <a:lstStyle/>
          <a:p>
            <a:pPr marL="0" indent="0">
              <a:buNone/>
            </a:pPr>
            <a:r>
              <a:rPr lang="en-US" sz="1100" dirty="0">
                <a:solidFill>
                  <a:srgbClr val="374151"/>
                </a:solidFill>
              </a:rPr>
              <a:t>How often do patients move to a different class?</a:t>
            </a:r>
            <a:endParaRPr lang="en-US" sz="1100" dirty="0"/>
          </a:p>
        </p:txBody>
      </p:sp>
      <p:sp>
        <p:nvSpPr>
          <p:cNvPr id="18" name="Text 16"/>
          <p:cNvSpPr/>
          <p:nvPr/>
        </p:nvSpPr>
        <p:spPr>
          <a:xfrm>
            <a:off x="5532120" y="3703320"/>
            <a:ext cx="5303520" cy="201168"/>
          </a:xfrm>
          <a:prstGeom prst="rect">
            <a:avLst/>
          </a:prstGeom>
          <a:noFill/>
          <a:ln/>
        </p:spPr>
        <p:txBody>
          <a:bodyPr wrap="square" lIns="0" tIns="0" rIns="0" bIns="0" rtlCol="0" anchor="ctr"/>
          <a:lstStyle/>
          <a:p>
            <a:pPr marL="0" indent="0">
              <a:buNone/>
            </a:pPr>
            <a:r>
              <a:rPr lang="en-US" sz="1100" b="1" dirty="0">
                <a:solidFill>
                  <a:srgbClr val="1F3556"/>
                </a:solidFill>
              </a:rPr>
              <a:t>LOT1 -&gt; LOT2 transition tables</a:t>
            </a:r>
            <a:endParaRPr lang="en-US" sz="1100" dirty="0"/>
          </a:p>
        </p:txBody>
      </p:sp>
      <p:sp>
        <p:nvSpPr>
          <p:cNvPr id="19" name="Shape 17"/>
          <p:cNvSpPr/>
          <p:nvPr/>
        </p:nvSpPr>
        <p:spPr>
          <a:xfrm>
            <a:off x="777240" y="4151376"/>
            <a:ext cx="10652760" cy="530352"/>
          </a:xfrm>
          <a:prstGeom prst="rect">
            <a:avLst/>
          </a:prstGeom>
          <a:solidFill>
            <a:srgbClr val="FFFFFF"/>
          </a:solidFill>
          <a:ln w="6350">
            <a:solidFill>
              <a:srgbClr val="E5E7EB"/>
            </a:solidFill>
            <a:prstDash val="solid"/>
          </a:ln>
        </p:spPr>
        <p:txBody>
          <a:bodyPr/>
          <a:lstStyle/>
          <a:p>
            <a:endParaRPr lang="en-US"/>
          </a:p>
        </p:txBody>
      </p:sp>
      <p:sp>
        <p:nvSpPr>
          <p:cNvPr id="20" name="Text 18"/>
          <p:cNvSpPr/>
          <p:nvPr/>
        </p:nvSpPr>
        <p:spPr>
          <a:xfrm>
            <a:off x="941832" y="4279392"/>
            <a:ext cx="4297680" cy="201168"/>
          </a:xfrm>
          <a:prstGeom prst="rect">
            <a:avLst/>
          </a:prstGeom>
          <a:noFill/>
          <a:ln/>
        </p:spPr>
        <p:txBody>
          <a:bodyPr wrap="square" lIns="0" tIns="0" rIns="0" bIns="0" rtlCol="0" anchor="ctr"/>
          <a:lstStyle/>
          <a:p>
            <a:pPr marL="0" indent="0">
              <a:buNone/>
            </a:pPr>
            <a:r>
              <a:rPr lang="en-US" sz="1100" dirty="0">
                <a:solidFill>
                  <a:srgbClr val="374151"/>
                </a:solidFill>
              </a:rPr>
              <a:t>Do LOT1 and LOT2 overlap?</a:t>
            </a:r>
            <a:endParaRPr lang="en-US" sz="1100" dirty="0"/>
          </a:p>
        </p:txBody>
      </p:sp>
      <p:sp>
        <p:nvSpPr>
          <p:cNvPr id="21" name="Text 19"/>
          <p:cNvSpPr/>
          <p:nvPr/>
        </p:nvSpPr>
        <p:spPr>
          <a:xfrm>
            <a:off x="5532120" y="4279392"/>
            <a:ext cx="5303520" cy="201168"/>
          </a:xfrm>
          <a:prstGeom prst="rect">
            <a:avLst/>
          </a:prstGeom>
          <a:noFill/>
          <a:ln/>
        </p:spPr>
        <p:txBody>
          <a:bodyPr wrap="square" lIns="0" tIns="0" rIns="0" bIns="0" rtlCol="0" anchor="ctr"/>
          <a:lstStyle/>
          <a:p>
            <a:pPr marL="0" indent="0">
              <a:buNone/>
            </a:pPr>
            <a:r>
              <a:rPr lang="en-US" sz="1100" b="1" dirty="0">
                <a:solidFill>
                  <a:srgbClr val="1F3556"/>
                </a:solidFill>
              </a:rPr>
              <a:t>Overlap categories + Table 7</a:t>
            </a:r>
            <a:endParaRPr lang="en-US" sz="1100" dirty="0"/>
          </a:p>
        </p:txBody>
      </p:sp>
      <p:sp>
        <p:nvSpPr>
          <p:cNvPr id="22" name="Shape 20"/>
          <p:cNvSpPr/>
          <p:nvPr/>
        </p:nvSpPr>
        <p:spPr>
          <a:xfrm>
            <a:off x="777240" y="4727448"/>
            <a:ext cx="10652760" cy="530352"/>
          </a:xfrm>
          <a:prstGeom prst="rect">
            <a:avLst/>
          </a:prstGeom>
          <a:solidFill>
            <a:srgbClr val="F9FAFB"/>
          </a:solidFill>
          <a:ln w="6350">
            <a:solidFill>
              <a:srgbClr val="E5E7EB"/>
            </a:solidFill>
            <a:prstDash val="solid"/>
          </a:ln>
        </p:spPr>
        <p:txBody>
          <a:bodyPr/>
          <a:lstStyle/>
          <a:p>
            <a:endParaRPr lang="en-US"/>
          </a:p>
        </p:txBody>
      </p:sp>
      <p:sp>
        <p:nvSpPr>
          <p:cNvPr id="23" name="Text 21"/>
          <p:cNvSpPr/>
          <p:nvPr/>
        </p:nvSpPr>
        <p:spPr>
          <a:xfrm>
            <a:off x="941832" y="4855464"/>
            <a:ext cx="4297680" cy="201168"/>
          </a:xfrm>
          <a:prstGeom prst="rect">
            <a:avLst/>
          </a:prstGeom>
          <a:noFill/>
          <a:ln/>
        </p:spPr>
        <p:txBody>
          <a:bodyPr wrap="square" lIns="0" tIns="0" rIns="0" bIns="0" rtlCol="0" anchor="ctr"/>
          <a:lstStyle/>
          <a:p>
            <a:pPr marL="0" indent="0">
              <a:buNone/>
            </a:pPr>
            <a:r>
              <a:rPr lang="en-US" sz="1100" dirty="0">
                <a:solidFill>
                  <a:srgbClr val="374151"/>
                </a:solidFill>
              </a:rPr>
              <a:t>Can this be communicated visually?</a:t>
            </a:r>
            <a:endParaRPr lang="en-US" sz="1100" dirty="0"/>
          </a:p>
        </p:txBody>
      </p:sp>
      <p:sp>
        <p:nvSpPr>
          <p:cNvPr id="24" name="Text 22"/>
          <p:cNvSpPr/>
          <p:nvPr/>
        </p:nvSpPr>
        <p:spPr>
          <a:xfrm>
            <a:off x="5532120" y="4855464"/>
            <a:ext cx="5303520" cy="201168"/>
          </a:xfrm>
          <a:prstGeom prst="rect">
            <a:avLst/>
          </a:prstGeom>
          <a:noFill/>
          <a:ln/>
        </p:spPr>
        <p:txBody>
          <a:bodyPr wrap="square" lIns="0" tIns="0" rIns="0" bIns="0" rtlCol="0" anchor="ctr"/>
          <a:lstStyle/>
          <a:p>
            <a:pPr marL="0" indent="0">
              <a:buNone/>
            </a:pPr>
            <a:r>
              <a:rPr lang="en-US" sz="1100" b="1" dirty="0">
                <a:solidFill>
                  <a:srgbClr val="1F3556"/>
                </a:solidFill>
              </a:rPr>
              <a:t>Sankey diagrams + distribution plots</a:t>
            </a:r>
            <a:endParaRPr lang="en-US" sz="1100" dirty="0"/>
          </a:p>
        </p:txBody>
      </p:sp>
      <p:sp>
        <p:nvSpPr>
          <p:cNvPr id="25" name="Text 23"/>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425" y="292608"/>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Analysis workflow: from raw OMOP records to treatment patterns</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The same logic can be reused for other medication classes or outcomes.</a:t>
            </a:r>
            <a:endParaRPr lang="en-US" sz="1050" dirty="0"/>
          </a:p>
        </p:txBody>
      </p:sp>
      <p:sp>
        <p:nvSpPr>
          <p:cNvPr id="6" name="Shape 4"/>
          <p:cNvSpPr/>
          <p:nvPr/>
        </p:nvSpPr>
        <p:spPr>
          <a:xfrm>
            <a:off x="2331720" y="3090672"/>
            <a:ext cx="301752" cy="0"/>
          </a:xfrm>
          <a:prstGeom prst="line">
            <a:avLst/>
          </a:prstGeom>
          <a:noFill/>
          <a:ln w="16510">
            <a:solidFill>
              <a:srgbClr val="2CB7B0"/>
            </a:solidFill>
            <a:prstDash val="solid"/>
            <a:headEnd type="none"/>
            <a:tailEnd type="triangle"/>
          </a:ln>
        </p:spPr>
        <p:txBody>
          <a:bodyPr/>
          <a:lstStyle/>
          <a:p>
            <a:endParaRPr lang="en-US"/>
          </a:p>
        </p:txBody>
      </p:sp>
      <p:sp>
        <p:nvSpPr>
          <p:cNvPr id="7" name="Shape 5"/>
          <p:cNvSpPr/>
          <p:nvPr/>
        </p:nvSpPr>
        <p:spPr>
          <a:xfrm>
            <a:off x="4480560" y="3090672"/>
            <a:ext cx="301752" cy="0"/>
          </a:xfrm>
          <a:prstGeom prst="line">
            <a:avLst/>
          </a:prstGeom>
          <a:noFill/>
          <a:ln w="16510">
            <a:solidFill>
              <a:srgbClr val="2CB7B0"/>
            </a:solidFill>
            <a:prstDash val="solid"/>
            <a:headEnd type="none"/>
            <a:tailEnd type="triangle"/>
          </a:ln>
        </p:spPr>
        <p:txBody>
          <a:bodyPr/>
          <a:lstStyle/>
          <a:p>
            <a:endParaRPr lang="en-US"/>
          </a:p>
        </p:txBody>
      </p:sp>
      <p:sp>
        <p:nvSpPr>
          <p:cNvPr id="8" name="Shape 6"/>
          <p:cNvSpPr/>
          <p:nvPr/>
        </p:nvSpPr>
        <p:spPr>
          <a:xfrm>
            <a:off x="6629400" y="3090672"/>
            <a:ext cx="301752" cy="0"/>
          </a:xfrm>
          <a:prstGeom prst="line">
            <a:avLst/>
          </a:prstGeom>
          <a:noFill/>
          <a:ln w="16510">
            <a:solidFill>
              <a:srgbClr val="2CB7B0"/>
            </a:solidFill>
            <a:prstDash val="solid"/>
            <a:headEnd type="none"/>
            <a:tailEnd type="triangle"/>
          </a:ln>
        </p:spPr>
        <p:txBody>
          <a:bodyPr/>
          <a:lstStyle/>
          <a:p>
            <a:endParaRPr lang="en-US"/>
          </a:p>
        </p:txBody>
      </p:sp>
      <p:sp>
        <p:nvSpPr>
          <p:cNvPr id="9" name="Shape 7"/>
          <p:cNvSpPr/>
          <p:nvPr/>
        </p:nvSpPr>
        <p:spPr>
          <a:xfrm>
            <a:off x="8778240" y="3090672"/>
            <a:ext cx="301752" cy="0"/>
          </a:xfrm>
          <a:prstGeom prst="line">
            <a:avLst/>
          </a:prstGeom>
          <a:noFill/>
          <a:ln w="16510">
            <a:solidFill>
              <a:srgbClr val="2CB7B0"/>
            </a:solidFill>
            <a:prstDash val="solid"/>
            <a:headEnd type="none"/>
            <a:tailEnd type="triangle"/>
          </a:ln>
        </p:spPr>
        <p:txBody>
          <a:bodyPr/>
          <a:lstStyle/>
          <a:p>
            <a:endParaRPr lang="en-US"/>
          </a:p>
        </p:txBody>
      </p:sp>
      <p:sp>
        <p:nvSpPr>
          <p:cNvPr id="10" name="Shape 8"/>
          <p:cNvSpPr/>
          <p:nvPr/>
        </p:nvSpPr>
        <p:spPr>
          <a:xfrm>
            <a:off x="594360" y="2331720"/>
            <a:ext cx="1737360" cy="1508760"/>
          </a:xfrm>
          <a:prstGeom prst="roundRect">
            <a:avLst>
              <a:gd name="adj" fmla="val 4848"/>
            </a:avLst>
          </a:prstGeom>
          <a:solidFill>
            <a:srgbClr val="EAF3FA"/>
          </a:solidFill>
          <a:ln w="10160">
            <a:solidFill>
              <a:srgbClr val="D0D7DE"/>
            </a:solidFill>
            <a:prstDash val="solid"/>
          </a:ln>
        </p:spPr>
        <p:txBody>
          <a:bodyPr/>
          <a:lstStyle/>
          <a:p>
            <a:endParaRPr lang="en-US"/>
          </a:p>
        </p:txBody>
      </p:sp>
      <p:sp>
        <p:nvSpPr>
          <p:cNvPr id="11" name="Text 9"/>
          <p:cNvSpPr/>
          <p:nvPr/>
        </p:nvSpPr>
        <p:spPr>
          <a:xfrm>
            <a:off x="704088" y="2441448"/>
            <a:ext cx="1517904" cy="128930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1</a:t>
            </a:r>
            <a:endParaRPr lang="en-US" sz="1200" dirty="0"/>
          </a:p>
          <a:p>
            <a:pPr marL="0" indent="0" algn="ctr">
              <a:buNone/>
            </a:pPr>
            <a:r>
              <a:rPr lang="en-US" sz="1200" b="1" dirty="0">
                <a:solidFill>
                  <a:srgbClr val="1F3556"/>
                </a:solidFill>
              </a:rPr>
              <a:t>Cohort</a:t>
            </a:r>
            <a:endParaRPr lang="en-US" sz="1200" dirty="0"/>
          </a:p>
        </p:txBody>
      </p:sp>
      <p:sp>
        <p:nvSpPr>
          <p:cNvPr id="12" name="Text 10"/>
          <p:cNvSpPr/>
          <p:nvPr/>
        </p:nvSpPr>
        <p:spPr>
          <a:xfrm>
            <a:off x="548640" y="4041648"/>
            <a:ext cx="1828800" cy="502920"/>
          </a:xfrm>
          <a:prstGeom prst="rect">
            <a:avLst/>
          </a:prstGeom>
          <a:noFill/>
          <a:ln/>
        </p:spPr>
        <p:txBody>
          <a:bodyPr wrap="square" lIns="0" tIns="0" rIns="0" bIns="0" rtlCol="0" anchor="ctr">
            <a:normAutofit/>
          </a:bodyPr>
          <a:lstStyle/>
          <a:p>
            <a:pPr marL="0" indent="0" algn="ctr">
              <a:buNone/>
            </a:pPr>
            <a:r>
              <a:rPr lang="en-US" sz="1040" dirty="0">
                <a:solidFill>
                  <a:srgbClr val="374151"/>
                </a:solidFill>
              </a:rPr>
              <a:t>MDD index date</a:t>
            </a:r>
            <a:endParaRPr lang="en-US" sz="1040" dirty="0"/>
          </a:p>
          <a:p>
            <a:pPr marL="0" indent="0" algn="ctr">
              <a:buNone/>
            </a:pPr>
            <a:r>
              <a:rPr lang="en-US" sz="1040" dirty="0">
                <a:solidFill>
                  <a:srgbClr val="374151"/>
                </a:solidFill>
              </a:rPr>
              <a:t>first diagnosis</a:t>
            </a:r>
            <a:endParaRPr lang="en-US" sz="1040" dirty="0"/>
          </a:p>
        </p:txBody>
      </p:sp>
      <p:sp>
        <p:nvSpPr>
          <p:cNvPr id="13" name="Shape 11"/>
          <p:cNvSpPr/>
          <p:nvPr/>
        </p:nvSpPr>
        <p:spPr>
          <a:xfrm>
            <a:off x="2743200" y="2331720"/>
            <a:ext cx="1737360" cy="1508760"/>
          </a:xfrm>
          <a:prstGeom prst="roundRect">
            <a:avLst>
              <a:gd name="adj" fmla="val 4848"/>
            </a:avLst>
          </a:prstGeom>
          <a:solidFill>
            <a:srgbClr val="E7F7F6"/>
          </a:solidFill>
          <a:ln w="10160">
            <a:solidFill>
              <a:srgbClr val="D0D7DE"/>
            </a:solidFill>
            <a:prstDash val="solid"/>
          </a:ln>
        </p:spPr>
        <p:txBody>
          <a:bodyPr/>
          <a:lstStyle/>
          <a:p>
            <a:endParaRPr lang="en-US"/>
          </a:p>
        </p:txBody>
      </p:sp>
      <p:sp>
        <p:nvSpPr>
          <p:cNvPr id="14" name="Text 12"/>
          <p:cNvSpPr/>
          <p:nvPr/>
        </p:nvSpPr>
        <p:spPr>
          <a:xfrm>
            <a:off x="2852928" y="2441448"/>
            <a:ext cx="1517904" cy="128930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2</a:t>
            </a:r>
            <a:endParaRPr lang="en-US" sz="1200" dirty="0"/>
          </a:p>
          <a:p>
            <a:pPr marL="0" indent="0" algn="ctr">
              <a:buNone/>
            </a:pPr>
            <a:r>
              <a:rPr lang="en-US" sz="1200" b="1" dirty="0">
                <a:solidFill>
                  <a:srgbClr val="1F3556"/>
                </a:solidFill>
              </a:rPr>
              <a:t>Map drugs</a:t>
            </a:r>
            <a:endParaRPr lang="en-US" sz="1200" dirty="0"/>
          </a:p>
        </p:txBody>
      </p:sp>
      <p:sp>
        <p:nvSpPr>
          <p:cNvPr id="15" name="Text 13"/>
          <p:cNvSpPr/>
          <p:nvPr/>
        </p:nvSpPr>
        <p:spPr>
          <a:xfrm>
            <a:off x="2697480" y="4041648"/>
            <a:ext cx="1828800" cy="502920"/>
          </a:xfrm>
          <a:prstGeom prst="rect">
            <a:avLst/>
          </a:prstGeom>
          <a:noFill/>
          <a:ln/>
        </p:spPr>
        <p:txBody>
          <a:bodyPr wrap="square" lIns="0" tIns="0" rIns="0" bIns="0" rtlCol="0" anchor="ctr">
            <a:normAutofit/>
          </a:bodyPr>
          <a:lstStyle/>
          <a:p>
            <a:pPr marL="0" indent="0" algn="ctr">
              <a:buNone/>
            </a:pPr>
            <a:r>
              <a:rPr lang="en-US" sz="1040" dirty="0">
                <a:solidFill>
                  <a:srgbClr val="374151"/>
                </a:solidFill>
              </a:rPr>
              <a:t>RxNorm ingredients</a:t>
            </a:r>
            <a:endParaRPr lang="en-US" sz="1040" dirty="0"/>
          </a:p>
          <a:p>
            <a:pPr marL="0" indent="0" algn="ctr">
              <a:buNone/>
            </a:pPr>
            <a:r>
              <a:rPr lang="en-US" sz="1040" dirty="0">
                <a:solidFill>
                  <a:srgbClr val="374151"/>
                </a:solidFill>
              </a:rPr>
              <a:t>into classes</a:t>
            </a:r>
            <a:endParaRPr lang="en-US" sz="1040" dirty="0"/>
          </a:p>
        </p:txBody>
      </p:sp>
      <p:sp>
        <p:nvSpPr>
          <p:cNvPr id="16" name="Shape 14"/>
          <p:cNvSpPr/>
          <p:nvPr/>
        </p:nvSpPr>
        <p:spPr>
          <a:xfrm>
            <a:off x="4892040" y="2331720"/>
            <a:ext cx="1737360" cy="1508760"/>
          </a:xfrm>
          <a:prstGeom prst="roundRect">
            <a:avLst>
              <a:gd name="adj" fmla="val 4848"/>
            </a:avLst>
          </a:prstGeom>
          <a:solidFill>
            <a:srgbClr val="FFF6D6"/>
          </a:solidFill>
          <a:ln w="10160">
            <a:solidFill>
              <a:srgbClr val="D0D7DE"/>
            </a:solidFill>
            <a:prstDash val="solid"/>
          </a:ln>
        </p:spPr>
        <p:txBody>
          <a:bodyPr/>
          <a:lstStyle/>
          <a:p>
            <a:endParaRPr lang="en-US"/>
          </a:p>
        </p:txBody>
      </p:sp>
      <p:sp>
        <p:nvSpPr>
          <p:cNvPr id="17" name="Text 15"/>
          <p:cNvSpPr/>
          <p:nvPr/>
        </p:nvSpPr>
        <p:spPr>
          <a:xfrm>
            <a:off x="5001768" y="2441448"/>
            <a:ext cx="1517904" cy="128930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3</a:t>
            </a:r>
            <a:endParaRPr lang="en-US" sz="1200" dirty="0"/>
          </a:p>
          <a:p>
            <a:pPr marL="0" indent="0" algn="ctr">
              <a:buNone/>
            </a:pPr>
            <a:r>
              <a:rPr lang="en-US" sz="1200" b="1" dirty="0">
                <a:solidFill>
                  <a:srgbClr val="1F3556"/>
                </a:solidFill>
              </a:rPr>
              <a:t>Episodes</a:t>
            </a:r>
            <a:r>
              <a:rPr lang="zh-CN" altLang="en-US" sz="1200" b="1" dirty="0">
                <a:solidFill>
                  <a:srgbClr val="1F3556"/>
                </a:solidFill>
              </a:rPr>
              <a:t> </a:t>
            </a:r>
            <a:r>
              <a:rPr lang="en-US" altLang="zh-CN" sz="1200" b="1" baseline="30000" dirty="0">
                <a:solidFill>
                  <a:srgbClr val="1F3556"/>
                </a:solidFill>
              </a:rPr>
              <a:t>2</a:t>
            </a:r>
            <a:endParaRPr lang="en-US" sz="1200" baseline="30000" dirty="0"/>
          </a:p>
        </p:txBody>
      </p:sp>
      <p:sp>
        <p:nvSpPr>
          <p:cNvPr id="18" name="Text 16"/>
          <p:cNvSpPr/>
          <p:nvPr/>
        </p:nvSpPr>
        <p:spPr>
          <a:xfrm>
            <a:off x="4846320" y="4041648"/>
            <a:ext cx="1828800" cy="502920"/>
          </a:xfrm>
          <a:prstGeom prst="rect">
            <a:avLst/>
          </a:prstGeom>
          <a:noFill/>
          <a:ln/>
        </p:spPr>
        <p:txBody>
          <a:bodyPr wrap="square" lIns="0" tIns="0" rIns="0" bIns="0" rtlCol="0" anchor="ctr">
            <a:normAutofit/>
          </a:bodyPr>
          <a:lstStyle/>
          <a:p>
            <a:pPr marL="0" indent="0" algn="ctr">
              <a:buNone/>
            </a:pPr>
            <a:r>
              <a:rPr lang="en-US" sz="1040" dirty="0">
                <a:solidFill>
                  <a:srgbClr val="374151"/>
                </a:solidFill>
              </a:rPr>
              <a:t>Class-level start</a:t>
            </a:r>
            <a:endParaRPr lang="en-US" sz="1040" dirty="0"/>
          </a:p>
          <a:p>
            <a:pPr marL="0" indent="0" algn="ctr">
              <a:buNone/>
            </a:pPr>
            <a:r>
              <a:rPr lang="en-US" sz="1040" dirty="0">
                <a:solidFill>
                  <a:srgbClr val="374151"/>
                </a:solidFill>
              </a:rPr>
              <a:t>and end dates</a:t>
            </a:r>
            <a:endParaRPr lang="en-US" sz="1040" dirty="0"/>
          </a:p>
        </p:txBody>
      </p:sp>
      <p:sp>
        <p:nvSpPr>
          <p:cNvPr id="19" name="Shape 17"/>
          <p:cNvSpPr/>
          <p:nvPr/>
        </p:nvSpPr>
        <p:spPr>
          <a:xfrm>
            <a:off x="7040880" y="2331720"/>
            <a:ext cx="1737360" cy="1508760"/>
          </a:xfrm>
          <a:prstGeom prst="roundRect">
            <a:avLst>
              <a:gd name="adj" fmla="val 4848"/>
            </a:avLst>
          </a:prstGeom>
          <a:solidFill>
            <a:srgbClr val="FCEDEB"/>
          </a:solidFill>
          <a:ln w="10160">
            <a:solidFill>
              <a:srgbClr val="D0D7DE"/>
            </a:solidFill>
            <a:prstDash val="solid"/>
          </a:ln>
        </p:spPr>
        <p:txBody>
          <a:bodyPr/>
          <a:lstStyle/>
          <a:p>
            <a:endParaRPr lang="en-US"/>
          </a:p>
        </p:txBody>
      </p:sp>
      <p:sp>
        <p:nvSpPr>
          <p:cNvPr id="20" name="Text 18"/>
          <p:cNvSpPr/>
          <p:nvPr/>
        </p:nvSpPr>
        <p:spPr>
          <a:xfrm>
            <a:off x="7150608" y="2441448"/>
            <a:ext cx="1517904" cy="128930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4</a:t>
            </a:r>
            <a:endParaRPr lang="en-US" sz="1200" dirty="0"/>
          </a:p>
          <a:p>
            <a:pPr marL="0" indent="0" algn="ctr">
              <a:buNone/>
            </a:pPr>
            <a:r>
              <a:rPr lang="en-US" sz="1200" b="1" dirty="0">
                <a:solidFill>
                  <a:srgbClr val="1F3556"/>
                </a:solidFill>
              </a:rPr>
              <a:t>LOTs</a:t>
            </a:r>
            <a:endParaRPr lang="en-US" sz="1200" dirty="0"/>
          </a:p>
        </p:txBody>
      </p:sp>
      <p:sp>
        <p:nvSpPr>
          <p:cNvPr id="21" name="Text 19"/>
          <p:cNvSpPr/>
          <p:nvPr/>
        </p:nvSpPr>
        <p:spPr>
          <a:xfrm>
            <a:off x="6995160" y="4041648"/>
            <a:ext cx="1828800" cy="502920"/>
          </a:xfrm>
          <a:prstGeom prst="rect">
            <a:avLst/>
          </a:prstGeom>
          <a:noFill/>
          <a:ln/>
        </p:spPr>
        <p:txBody>
          <a:bodyPr wrap="square" lIns="0" tIns="0" rIns="0" bIns="0" rtlCol="0" anchor="ctr">
            <a:normAutofit/>
          </a:bodyPr>
          <a:lstStyle/>
          <a:p>
            <a:pPr marL="0" indent="0" algn="ctr">
              <a:buNone/>
            </a:pPr>
            <a:r>
              <a:rPr lang="en-US" sz="1040" dirty="0">
                <a:solidFill>
                  <a:srgbClr val="374151"/>
                </a:solidFill>
              </a:rPr>
              <a:t>LOT1, LOT2,</a:t>
            </a:r>
            <a:endParaRPr lang="en-US" sz="1040" dirty="0"/>
          </a:p>
          <a:p>
            <a:pPr marL="0" indent="0" algn="ctr">
              <a:buNone/>
            </a:pPr>
            <a:r>
              <a:rPr lang="en-US" sz="1040" dirty="0">
                <a:solidFill>
                  <a:srgbClr val="374151"/>
                </a:solidFill>
              </a:rPr>
              <a:t>overlap days</a:t>
            </a:r>
            <a:endParaRPr lang="en-US" sz="1040" dirty="0"/>
          </a:p>
        </p:txBody>
      </p:sp>
      <p:sp>
        <p:nvSpPr>
          <p:cNvPr id="22" name="Shape 20"/>
          <p:cNvSpPr/>
          <p:nvPr/>
        </p:nvSpPr>
        <p:spPr>
          <a:xfrm>
            <a:off x="9189720" y="2331720"/>
            <a:ext cx="1737360" cy="1508760"/>
          </a:xfrm>
          <a:prstGeom prst="roundRect">
            <a:avLst>
              <a:gd name="adj" fmla="val 4848"/>
            </a:avLst>
          </a:prstGeom>
          <a:solidFill>
            <a:srgbClr val="F3EFFE"/>
          </a:solidFill>
          <a:ln w="10160">
            <a:solidFill>
              <a:srgbClr val="D0D7DE"/>
            </a:solidFill>
            <a:prstDash val="solid"/>
          </a:ln>
        </p:spPr>
        <p:txBody>
          <a:bodyPr/>
          <a:lstStyle/>
          <a:p>
            <a:endParaRPr lang="en-US"/>
          </a:p>
        </p:txBody>
      </p:sp>
      <p:sp>
        <p:nvSpPr>
          <p:cNvPr id="23" name="Text 21"/>
          <p:cNvSpPr/>
          <p:nvPr/>
        </p:nvSpPr>
        <p:spPr>
          <a:xfrm>
            <a:off x="9299448" y="2441448"/>
            <a:ext cx="1517904" cy="128930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5</a:t>
            </a:r>
            <a:endParaRPr lang="en-US" sz="1200" dirty="0"/>
          </a:p>
          <a:p>
            <a:pPr marL="0" indent="0" algn="ctr">
              <a:buNone/>
            </a:pPr>
            <a:r>
              <a:rPr lang="en-US" sz="1200" b="1" dirty="0">
                <a:solidFill>
                  <a:srgbClr val="1F3556"/>
                </a:solidFill>
              </a:rPr>
              <a:t>Outputs</a:t>
            </a:r>
            <a:endParaRPr lang="en-US" sz="1200" dirty="0"/>
          </a:p>
        </p:txBody>
      </p:sp>
      <p:sp>
        <p:nvSpPr>
          <p:cNvPr id="24" name="Text 22"/>
          <p:cNvSpPr/>
          <p:nvPr/>
        </p:nvSpPr>
        <p:spPr>
          <a:xfrm>
            <a:off x="9144000" y="4041648"/>
            <a:ext cx="1828800" cy="502920"/>
          </a:xfrm>
          <a:prstGeom prst="rect">
            <a:avLst/>
          </a:prstGeom>
          <a:noFill/>
          <a:ln/>
        </p:spPr>
        <p:txBody>
          <a:bodyPr wrap="square" lIns="0" tIns="0" rIns="0" bIns="0" rtlCol="0" anchor="ctr">
            <a:normAutofit/>
          </a:bodyPr>
          <a:lstStyle/>
          <a:p>
            <a:pPr marL="0" indent="0" algn="ctr">
              <a:buNone/>
            </a:pPr>
            <a:r>
              <a:rPr lang="en-US" sz="1040" dirty="0">
                <a:solidFill>
                  <a:srgbClr val="374151"/>
                </a:solidFill>
              </a:rPr>
              <a:t>Tables, Sankey,</a:t>
            </a:r>
            <a:endParaRPr lang="en-US" sz="1040" dirty="0"/>
          </a:p>
          <a:p>
            <a:pPr marL="0" indent="0" algn="ctr">
              <a:buNone/>
            </a:pPr>
            <a:r>
              <a:rPr lang="en-US" sz="1040" dirty="0">
                <a:solidFill>
                  <a:srgbClr val="374151"/>
                </a:solidFill>
              </a:rPr>
              <a:t>summary figures</a:t>
            </a:r>
            <a:endParaRPr lang="en-US" sz="1040" dirty="0"/>
          </a:p>
        </p:txBody>
      </p:sp>
      <p:sp>
        <p:nvSpPr>
          <p:cNvPr id="25" name="Text 23"/>
          <p:cNvSpPr/>
          <p:nvPr/>
        </p:nvSpPr>
        <p:spPr>
          <a:xfrm>
            <a:off x="665018" y="5047496"/>
            <a:ext cx="2169622" cy="274306"/>
          </a:xfrm>
          <a:prstGeom prst="rect">
            <a:avLst/>
          </a:prstGeom>
          <a:noFill/>
          <a:ln/>
        </p:spPr>
        <p:txBody>
          <a:bodyPr wrap="square" lIns="0" tIns="0" rIns="0" bIns="0" rtlCol="0" anchor="ctr"/>
          <a:lstStyle/>
          <a:p>
            <a:pPr marL="0" indent="0">
              <a:buNone/>
            </a:pPr>
            <a:r>
              <a:rPr lang="en-US" sz="1200" b="1" dirty="0">
                <a:solidFill>
                  <a:srgbClr val="1F3556"/>
                </a:solidFill>
              </a:rPr>
              <a:t>Reusable functions created</a:t>
            </a:r>
            <a:endParaRPr lang="en-US" sz="1200" dirty="0"/>
          </a:p>
        </p:txBody>
      </p:sp>
      <p:sp>
        <p:nvSpPr>
          <p:cNvPr id="26" name="Text 24"/>
          <p:cNvSpPr/>
          <p:nvPr/>
        </p:nvSpPr>
        <p:spPr>
          <a:xfrm>
            <a:off x="2834640" y="5029200"/>
            <a:ext cx="8412480" cy="411480"/>
          </a:xfrm>
          <a:prstGeom prst="rect">
            <a:avLst/>
          </a:prstGeom>
          <a:noFill/>
          <a:ln/>
        </p:spPr>
        <p:txBody>
          <a:bodyPr wrap="square" lIns="0" tIns="0" rIns="0" bIns="0" rtlCol="0" anchor="ctr"/>
          <a:lstStyle/>
          <a:p>
            <a:pPr marL="0" indent="0">
              <a:buNone/>
            </a:pPr>
            <a:r>
              <a:rPr lang="en-US" sz="1050" dirty="0">
                <a:solidFill>
                  <a:srgbClr val="374151"/>
                </a:solidFill>
              </a:rPr>
              <a:t>drug cleaning -&gt; class mapping -&gt; episode construction -&gt; earliest LOT2 -&gt; overlap categories -&gt; summary tables -&gt; Sankey plotting -&gt; Table 7 distribution plots</a:t>
            </a:r>
            <a:endParaRPr lang="en-US" sz="1050" dirty="0"/>
          </a:p>
        </p:txBody>
      </p:sp>
      <p:sp>
        <p:nvSpPr>
          <p:cNvPr id="27" name="Text 25"/>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5</a:t>
            </a:r>
            <a:endParaRPr lang="en-US" sz="750" dirty="0"/>
          </a:p>
        </p:txBody>
      </p:sp>
      <p:sp>
        <p:nvSpPr>
          <p:cNvPr id="28" name="Text 17">
            <a:extLst>
              <a:ext uri="{FF2B5EF4-FFF2-40B4-BE49-F238E27FC236}">
                <a16:creationId xmlns:a16="http://schemas.microsoft.com/office/drawing/2014/main" id="{9C6B0998-35DE-2215-E9BA-7931F18AA0FF}"/>
              </a:ext>
            </a:extLst>
          </p:cNvPr>
          <p:cNvSpPr/>
          <p:nvPr/>
        </p:nvSpPr>
        <p:spPr>
          <a:xfrm>
            <a:off x="594360" y="5417820"/>
            <a:ext cx="10698480" cy="1170432"/>
          </a:xfrm>
          <a:prstGeom prst="rect">
            <a:avLst/>
          </a:prstGeom>
          <a:noFill/>
          <a:ln/>
        </p:spPr>
        <p:txBody>
          <a:bodyPr wrap="square" lIns="0" tIns="0" rIns="0" bIns="0" rtlCol="0" anchor="ctr"/>
          <a:lstStyle/>
          <a:p>
            <a:r>
              <a:rPr lang="en-US" altLang="zh-CN" sz="1040" i="1" dirty="0">
                <a:solidFill>
                  <a:srgbClr val="6B7280"/>
                </a:solidFill>
              </a:rPr>
              <a:t>2</a:t>
            </a:r>
            <a:r>
              <a:rPr lang="en-US" sz="1040" i="1" dirty="0">
                <a:solidFill>
                  <a:srgbClr val="6B7280"/>
                </a:solidFill>
              </a:rPr>
              <a:t>. </a:t>
            </a:r>
            <a:r>
              <a:rPr lang="en-CA" sz="1040" i="1" dirty="0">
                <a:solidFill>
                  <a:srgbClr val="6B7280"/>
                </a:solidFill>
              </a:rPr>
              <a:t>Episode = </a:t>
            </a:r>
            <a:r>
              <a:rPr lang="zh-CN" altLang="en-US" sz="1040" i="1" dirty="0">
                <a:solidFill>
                  <a:srgbClr val="6B7280"/>
                </a:solidFill>
              </a:rPr>
              <a:t> </a:t>
            </a:r>
            <a:r>
              <a:rPr lang="en-CA" sz="1040" i="1" dirty="0">
                <a:solidFill>
                  <a:srgbClr val="6B7280"/>
                </a:solidFill>
              </a:rPr>
              <a:t>continuous exposure period within the same antidepressant class; for the same patient  with the same antidepressant class, records with gaps &lt;30 days were merged in this study.</a:t>
            </a:r>
          </a:p>
          <a:p>
            <a:endParaRPr lang="en-CA" sz="1040" i="1" dirty="0">
              <a:solidFill>
                <a:srgbClr val="6B7280"/>
              </a:solidFill>
            </a:endParaRPr>
          </a:p>
          <a:p>
            <a:endParaRPr lang="en-US" sz="1040" i="1" dirty="0">
              <a:solidFill>
                <a:srgbClr val="6B728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Index antidepressant class: SSRI dominates first observed treatment</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A clear index class is required before treatment-line analysis.</a:t>
            </a:r>
            <a:endParaRPr lang="en-US" sz="1050" dirty="0"/>
          </a:p>
        </p:txBody>
      </p:sp>
      <p:sp>
        <p:nvSpPr>
          <p:cNvPr id="6" name="Text 4"/>
          <p:cNvSpPr/>
          <p:nvPr/>
        </p:nvSpPr>
        <p:spPr>
          <a:xfrm>
            <a:off x="758952" y="1170432"/>
            <a:ext cx="6400800" cy="237744"/>
          </a:xfrm>
          <a:prstGeom prst="rect">
            <a:avLst/>
          </a:prstGeom>
          <a:noFill/>
          <a:ln/>
        </p:spPr>
        <p:txBody>
          <a:bodyPr wrap="square" lIns="0" tIns="0" rIns="0" bIns="0" rtlCol="0" anchor="ctr"/>
          <a:lstStyle/>
          <a:p>
            <a:pPr marL="0" indent="0">
              <a:buNone/>
            </a:pPr>
            <a:r>
              <a:rPr lang="en-US" sz="1100" dirty="0">
                <a:solidFill>
                  <a:srgbClr val="6B7280"/>
                </a:solidFill>
              </a:rPr>
              <a:t>Index class distribution among MDD patients with antidepressant medication (N = 68,301)</a:t>
            </a:r>
            <a:endParaRPr lang="en-US" sz="1100" dirty="0"/>
          </a:p>
        </p:txBody>
      </p:sp>
      <p:sp>
        <p:nvSpPr>
          <p:cNvPr id="7" name="Text 5"/>
          <p:cNvSpPr/>
          <p:nvPr/>
        </p:nvSpPr>
        <p:spPr>
          <a:xfrm>
            <a:off x="822960" y="1746504"/>
            <a:ext cx="1600200" cy="219456"/>
          </a:xfrm>
          <a:prstGeom prst="rect">
            <a:avLst/>
          </a:prstGeom>
          <a:noFill/>
          <a:ln/>
        </p:spPr>
        <p:txBody>
          <a:bodyPr wrap="square" lIns="0" tIns="0" rIns="0" bIns="0" rtlCol="0" anchor="ctr"/>
          <a:lstStyle/>
          <a:p>
            <a:pPr marL="0" indent="0">
              <a:buNone/>
            </a:pPr>
            <a:r>
              <a:rPr lang="en-US" sz="1050" dirty="0">
                <a:solidFill>
                  <a:srgbClr val="374151"/>
                </a:solidFill>
              </a:rPr>
              <a:t>SSRI</a:t>
            </a:r>
            <a:endParaRPr lang="en-US" sz="1050" dirty="0"/>
          </a:p>
        </p:txBody>
      </p:sp>
      <p:sp>
        <p:nvSpPr>
          <p:cNvPr id="8" name="Shape 6"/>
          <p:cNvSpPr/>
          <p:nvPr/>
        </p:nvSpPr>
        <p:spPr>
          <a:xfrm>
            <a:off x="2468880" y="1755648"/>
            <a:ext cx="4892040" cy="182880"/>
          </a:xfrm>
          <a:prstGeom prst="rect">
            <a:avLst/>
          </a:prstGeom>
          <a:solidFill>
            <a:srgbClr val="4C78A8"/>
          </a:solidFill>
          <a:ln w="12700">
            <a:solidFill>
              <a:srgbClr val="4C78A8"/>
            </a:solidFill>
            <a:prstDash val="solid"/>
          </a:ln>
        </p:spPr>
        <p:txBody>
          <a:bodyPr/>
          <a:lstStyle/>
          <a:p>
            <a:endParaRPr lang="en-US"/>
          </a:p>
        </p:txBody>
      </p:sp>
      <p:sp>
        <p:nvSpPr>
          <p:cNvPr id="9" name="Text 7"/>
          <p:cNvSpPr/>
          <p:nvPr/>
        </p:nvSpPr>
        <p:spPr>
          <a:xfrm>
            <a:off x="7498080" y="1719072"/>
            <a:ext cx="1828800" cy="237744"/>
          </a:xfrm>
          <a:prstGeom prst="rect">
            <a:avLst/>
          </a:prstGeom>
          <a:noFill/>
          <a:ln/>
        </p:spPr>
        <p:txBody>
          <a:bodyPr wrap="square" lIns="0" tIns="0" rIns="0" bIns="0" rtlCol="0" anchor="ctr"/>
          <a:lstStyle/>
          <a:p>
            <a:pPr marL="0" indent="0">
              <a:buNone/>
            </a:pPr>
            <a:r>
              <a:rPr lang="en-US" sz="1030" b="1" dirty="0">
                <a:solidFill>
                  <a:srgbClr val="1F3556"/>
                </a:solidFill>
              </a:rPr>
              <a:t>33,619 (49.2%)</a:t>
            </a:r>
            <a:endParaRPr lang="en-US" sz="1030" dirty="0"/>
          </a:p>
        </p:txBody>
      </p:sp>
      <p:sp>
        <p:nvSpPr>
          <p:cNvPr id="10" name="Text 8"/>
          <p:cNvSpPr/>
          <p:nvPr/>
        </p:nvSpPr>
        <p:spPr>
          <a:xfrm>
            <a:off x="822960" y="2249424"/>
            <a:ext cx="1600200" cy="219456"/>
          </a:xfrm>
          <a:prstGeom prst="rect">
            <a:avLst/>
          </a:prstGeom>
          <a:noFill/>
          <a:ln/>
        </p:spPr>
        <p:txBody>
          <a:bodyPr wrap="square" lIns="0" tIns="0" rIns="0" bIns="0" rtlCol="0" anchor="ctr"/>
          <a:lstStyle/>
          <a:p>
            <a:pPr marL="0" indent="0">
              <a:buNone/>
            </a:pPr>
            <a:r>
              <a:rPr lang="en-US" sz="1050" dirty="0">
                <a:solidFill>
                  <a:srgbClr val="374151"/>
                </a:solidFill>
              </a:rPr>
              <a:t>Atypical</a:t>
            </a:r>
            <a:endParaRPr lang="en-US" sz="1050" dirty="0"/>
          </a:p>
        </p:txBody>
      </p:sp>
      <p:sp>
        <p:nvSpPr>
          <p:cNvPr id="11" name="Shape 9"/>
          <p:cNvSpPr/>
          <p:nvPr/>
        </p:nvSpPr>
        <p:spPr>
          <a:xfrm>
            <a:off x="2468880" y="2258568"/>
            <a:ext cx="2189115" cy="182880"/>
          </a:xfrm>
          <a:prstGeom prst="rect">
            <a:avLst/>
          </a:prstGeom>
          <a:solidFill>
            <a:srgbClr val="EF6F5E"/>
          </a:solidFill>
          <a:ln w="12700">
            <a:solidFill>
              <a:srgbClr val="EF6F5E"/>
            </a:solidFill>
            <a:prstDash val="solid"/>
          </a:ln>
        </p:spPr>
        <p:txBody>
          <a:bodyPr/>
          <a:lstStyle/>
          <a:p>
            <a:endParaRPr lang="en-US"/>
          </a:p>
        </p:txBody>
      </p:sp>
      <p:sp>
        <p:nvSpPr>
          <p:cNvPr id="12" name="Text 10"/>
          <p:cNvSpPr/>
          <p:nvPr/>
        </p:nvSpPr>
        <p:spPr>
          <a:xfrm>
            <a:off x="7498080" y="2221992"/>
            <a:ext cx="1828800" cy="237744"/>
          </a:xfrm>
          <a:prstGeom prst="rect">
            <a:avLst/>
          </a:prstGeom>
          <a:noFill/>
          <a:ln/>
        </p:spPr>
        <p:txBody>
          <a:bodyPr wrap="square" lIns="0" tIns="0" rIns="0" bIns="0" rtlCol="0" anchor="ctr"/>
          <a:lstStyle/>
          <a:p>
            <a:pPr marL="0" indent="0">
              <a:buNone/>
            </a:pPr>
            <a:r>
              <a:rPr lang="en-US" sz="1030" b="1" dirty="0">
                <a:solidFill>
                  <a:srgbClr val="1F3556"/>
                </a:solidFill>
              </a:rPr>
              <a:t>15,044 (22.0%)</a:t>
            </a:r>
            <a:endParaRPr lang="en-US" sz="1030" dirty="0"/>
          </a:p>
        </p:txBody>
      </p:sp>
      <p:sp>
        <p:nvSpPr>
          <p:cNvPr id="13" name="Text 11"/>
          <p:cNvSpPr/>
          <p:nvPr/>
        </p:nvSpPr>
        <p:spPr>
          <a:xfrm>
            <a:off x="822960" y="2752344"/>
            <a:ext cx="1600200" cy="219456"/>
          </a:xfrm>
          <a:prstGeom prst="rect">
            <a:avLst/>
          </a:prstGeom>
          <a:noFill/>
          <a:ln/>
        </p:spPr>
        <p:txBody>
          <a:bodyPr wrap="square" lIns="0" tIns="0" rIns="0" bIns="0" rtlCol="0" anchor="ctr"/>
          <a:lstStyle/>
          <a:p>
            <a:pPr marL="0" indent="0">
              <a:buNone/>
            </a:pPr>
            <a:r>
              <a:rPr lang="en-US" sz="1050" dirty="0">
                <a:solidFill>
                  <a:srgbClr val="374151"/>
                </a:solidFill>
              </a:rPr>
              <a:t>SNRI</a:t>
            </a:r>
            <a:endParaRPr lang="en-US" sz="1050" dirty="0"/>
          </a:p>
        </p:txBody>
      </p:sp>
      <p:sp>
        <p:nvSpPr>
          <p:cNvPr id="14" name="Shape 12"/>
          <p:cNvSpPr/>
          <p:nvPr/>
        </p:nvSpPr>
        <p:spPr>
          <a:xfrm>
            <a:off x="2468880" y="2761488"/>
            <a:ext cx="1167460" cy="182880"/>
          </a:xfrm>
          <a:prstGeom prst="rect">
            <a:avLst/>
          </a:prstGeom>
          <a:solidFill>
            <a:srgbClr val="2CB7B0"/>
          </a:solidFill>
          <a:ln w="12700">
            <a:solidFill>
              <a:srgbClr val="2CB7B0"/>
            </a:solidFill>
            <a:prstDash val="solid"/>
          </a:ln>
        </p:spPr>
        <p:txBody>
          <a:bodyPr/>
          <a:lstStyle/>
          <a:p>
            <a:endParaRPr lang="en-US"/>
          </a:p>
        </p:txBody>
      </p:sp>
      <p:sp>
        <p:nvSpPr>
          <p:cNvPr id="15" name="Text 13"/>
          <p:cNvSpPr/>
          <p:nvPr/>
        </p:nvSpPr>
        <p:spPr>
          <a:xfrm>
            <a:off x="7498080" y="2724912"/>
            <a:ext cx="1828800" cy="237744"/>
          </a:xfrm>
          <a:prstGeom prst="rect">
            <a:avLst/>
          </a:prstGeom>
          <a:noFill/>
          <a:ln/>
        </p:spPr>
        <p:txBody>
          <a:bodyPr wrap="square" lIns="0" tIns="0" rIns="0" bIns="0" rtlCol="0" anchor="ctr"/>
          <a:lstStyle/>
          <a:p>
            <a:pPr marL="0" indent="0">
              <a:buNone/>
            </a:pPr>
            <a:r>
              <a:rPr lang="en-US" sz="1030" b="1" dirty="0">
                <a:solidFill>
                  <a:srgbClr val="1F3556"/>
                </a:solidFill>
              </a:rPr>
              <a:t>8,023 (11.7%)</a:t>
            </a:r>
            <a:endParaRPr lang="en-US" sz="1030" dirty="0"/>
          </a:p>
        </p:txBody>
      </p:sp>
      <p:sp>
        <p:nvSpPr>
          <p:cNvPr id="16" name="Text 14"/>
          <p:cNvSpPr/>
          <p:nvPr/>
        </p:nvSpPr>
        <p:spPr>
          <a:xfrm>
            <a:off x="822960" y="3255264"/>
            <a:ext cx="1600200" cy="219456"/>
          </a:xfrm>
          <a:prstGeom prst="rect">
            <a:avLst/>
          </a:prstGeom>
          <a:noFill/>
          <a:ln/>
        </p:spPr>
        <p:txBody>
          <a:bodyPr wrap="square" lIns="0" tIns="0" rIns="0" bIns="0" rtlCol="0" anchor="ctr"/>
          <a:lstStyle/>
          <a:p>
            <a:pPr marL="0" indent="0">
              <a:buNone/>
            </a:pPr>
            <a:r>
              <a:rPr lang="en-US" sz="1050" dirty="0">
                <a:solidFill>
                  <a:srgbClr val="374151"/>
                </a:solidFill>
              </a:rPr>
              <a:t>Multiple index classes</a:t>
            </a:r>
            <a:endParaRPr lang="en-US" sz="1050" dirty="0"/>
          </a:p>
        </p:txBody>
      </p:sp>
      <p:sp>
        <p:nvSpPr>
          <p:cNvPr id="17" name="Shape 15"/>
          <p:cNvSpPr/>
          <p:nvPr/>
        </p:nvSpPr>
        <p:spPr>
          <a:xfrm>
            <a:off x="2468880" y="3264408"/>
            <a:ext cx="851694" cy="182880"/>
          </a:xfrm>
          <a:prstGeom prst="rect">
            <a:avLst/>
          </a:prstGeom>
          <a:solidFill>
            <a:srgbClr val="F2C14E"/>
          </a:solidFill>
          <a:ln w="12700">
            <a:solidFill>
              <a:srgbClr val="F2C14E"/>
            </a:solidFill>
            <a:prstDash val="solid"/>
          </a:ln>
        </p:spPr>
        <p:txBody>
          <a:bodyPr/>
          <a:lstStyle/>
          <a:p>
            <a:endParaRPr lang="en-US"/>
          </a:p>
        </p:txBody>
      </p:sp>
      <p:sp>
        <p:nvSpPr>
          <p:cNvPr id="18" name="Text 16"/>
          <p:cNvSpPr/>
          <p:nvPr/>
        </p:nvSpPr>
        <p:spPr>
          <a:xfrm>
            <a:off x="7498080" y="3227832"/>
            <a:ext cx="1828800" cy="237744"/>
          </a:xfrm>
          <a:prstGeom prst="rect">
            <a:avLst/>
          </a:prstGeom>
          <a:noFill/>
          <a:ln/>
        </p:spPr>
        <p:txBody>
          <a:bodyPr wrap="square" lIns="0" tIns="0" rIns="0" bIns="0" rtlCol="0" anchor="ctr"/>
          <a:lstStyle/>
          <a:p>
            <a:pPr marL="0" indent="0">
              <a:buNone/>
            </a:pPr>
            <a:r>
              <a:rPr lang="en-US" sz="1030" b="1" dirty="0">
                <a:solidFill>
                  <a:srgbClr val="1F3556"/>
                </a:solidFill>
              </a:rPr>
              <a:t>5,853 (8.6%)</a:t>
            </a:r>
            <a:endParaRPr lang="en-US" sz="1030" dirty="0"/>
          </a:p>
        </p:txBody>
      </p:sp>
      <p:sp>
        <p:nvSpPr>
          <p:cNvPr id="19" name="Text 17"/>
          <p:cNvSpPr/>
          <p:nvPr/>
        </p:nvSpPr>
        <p:spPr>
          <a:xfrm>
            <a:off x="822960" y="3758184"/>
            <a:ext cx="1600200" cy="219456"/>
          </a:xfrm>
          <a:prstGeom prst="rect">
            <a:avLst/>
          </a:prstGeom>
          <a:noFill/>
          <a:ln/>
        </p:spPr>
        <p:txBody>
          <a:bodyPr wrap="square" lIns="0" tIns="0" rIns="0" bIns="0" rtlCol="0" anchor="ctr"/>
          <a:lstStyle/>
          <a:p>
            <a:pPr marL="0" indent="0">
              <a:buNone/>
            </a:pPr>
            <a:r>
              <a:rPr lang="en-US" sz="1050" dirty="0">
                <a:solidFill>
                  <a:srgbClr val="374151"/>
                </a:solidFill>
              </a:rPr>
              <a:t>TCA</a:t>
            </a:r>
            <a:endParaRPr lang="en-US" sz="1050" dirty="0"/>
          </a:p>
        </p:txBody>
      </p:sp>
      <p:sp>
        <p:nvSpPr>
          <p:cNvPr id="20" name="Shape 18"/>
          <p:cNvSpPr/>
          <p:nvPr/>
        </p:nvSpPr>
        <p:spPr>
          <a:xfrm>
            <a:off x="2468880" y="3767328"/>
            <a:ext cx="829722" cy="182880"/>
          </a:xfrm>
          <a:prstGeom prst="rect">
            <a:avLst/>
          </a:prstGeom>
          <a:solidFill>
            <a:srgbClr val="7D5CC6"/>
          </a:solidFill>
          <a:ln w="12700">
            <a:solidFill>
              <a:srgbClr val="7D5CC6"/>
            </a:solidFill>
            <a:prstDash val="solid"/>
          </a:ln>
        </p:spPr>
        <p:txBody>
          <a:bodyPr/>
          <a:lstStyle/>
          <a:p>
            <a:endParaRPr lang="en-US"/>
          </a:p>
        </p:txBody>
      </p:sp>
      <p:sp>
        <p:nvSpPr>
          <p:cNvPr id="21" name="Text 19"/>
          <p:cNvSpPr/>
          <p:nvPr/>
        </p:nvSpPr>
        <p:spPr>
          <a:xfrm>
            <a:off x="7498080" y="3730752"/>
            <a:ext cx="1828800" cy="237744"/>
          </a:xfrm>
          <a:prstGeom prst="rect">
            <a:avLst/>
          </a:prstGeom>
          <a:noFill/>
          <a:ln/>
        </p:spPr>
        <p:txBody>
          <a:bodyPr wrap="square" lIns="0" tIns="0" rIns="0" bIns="0" rtlCol="0" anchor="ctr"/>
          <a:lstStyle/>
          <a:p>
            <a:pPr marL="0" indent="0">
              <a:buNone/>
            </a:pPr>
            <a:r>
              <a:rPr lang="en-US" sz="1030" b="1" dirty="0">
                <a:solidFill>
                  <a:srgbClr val="1F3556"/>
                </a:solidFill>
              </a:rPr>
              <a:t>5,702 (8.3%)</a:t>
            </a:r>
            <a:endParaRPr lang="en-US" sz="1030" dirty="0"/>
          </a:p>
        </p:txBody>
      </p:sp>
      <p:sp>
        <p:nvSpPr>
          <p:cNvPr id="22" name="Text 20"/>
          <p:cNvSpPr/>
          <p:nvPr/>
        </p:nvSpPr>
        <p:spPr>
          <a:xfrm>
            <a:off x="822960" y="4261104"/>
            <a:ext cx="1600200" cy="219456"/>
          </a:xfrm>
          <a:prstGeom prst="rect">
            <a:avLst/>
          </a:prstGeom>
          <a:noFill/>
          <a:ln/>
        </p:spPr>
        <p:txBody>
          <a:bodyPr wrap="square" lIns="0" tIns="0" rIns="0" bIns="0" rtlCol="0" anchor="ctr"/>
          <a:lstStyle/>
          <a:p>
            <a:pPr marL="0" indent="0">
              <a:buNone/>
            </a:pPr>
            <a:r>
              <a:rPr lang="en-US" sz="1050" dirty="0">
                <a:solidFill>
                  <a:srgbClr val="374151"/>
                </a:solidFill>
              </a:rPr>
              <a:t>MAOI</a:t>
            </a:r>
            <a:endParaRPr lang="en-US" sz="1050" dirty="0"/>
          </a:p>
        </p:txBody>
      </p:sp>
      <p:sp>
        <p:nvSpPr>
          <p:cNvPr id="23" name="Shape 21"/>
          <p:cNvSpPr/>
          <p:nvPr/>
        </p:nvSpPr>
        <p:spPr>
          <a:xfrm>
            <a:off x="2468880" y="4270248"/>
            <a:ext cx="8731" cy="182880"/>
          </a:xfrm>
          <a:prstGeom prst="rect">
            <a:avLst/>
          </a:prstGeom>
          <a:solidFill>
            <a:srgbClr val="6B7280"/>
          </a:solidFill>
          <a:ln w="12700">
            <a:solidFill>
              <a:srgbClr val="6B7280"/>
            </a:solidFill>
            <a:prstDash val="solid"/>
          </a:ln>
        </p:spPr>
        <p:txBody>
          <a:bodyPr/>
          <a:lstStyle/>
          <a:p>
            <a:endParaRPr lang="en-US"/>
          </a:p>
        </p:txBody>
      </p:sp>
      <p:sp>
        <p:nvSpPr>
          <p:cNvPr id="24" name="Text 22"/>
          <p:cNvSpPr/>
          <p:nvPr/>
        </p:nvSpPr>
        <p:spPr>
          <a:xfrm>
            <a:off x="7498080" y="4233672"/>
            <a:ext cx="1828800" cy="237744"/>
          </a:xfrm>
          <a:prstGeom prst="rect">
            <a:avLst/>
          </a:prstGeom>
          <a:noFill/>
          <a:ln/>
        </p:spPr>
        <p:txBody>
          <a:bodyPr wrap="square" lIns="0" tIns="0" rIns="0" bIns="0" rtlCol="0" anchor="ctr"/>
          <a:lstStyle/>
          <a:p>
            <a:pPr marL="0" indent="0">
              <a:buNone/>
            </a:pPr>
            <a:r>
              <a:rPr lang="en-US" sz="1030" b="1" dirty="0">
                <a:solidFill>
                  <a:srgbClr val="1F3556"/>
                </a:solidFill>
              </a:rPr>
              <a:t>60 (0.1%)</a:t>
            </a:r>
            <a:endParaRPr lang="en-US" sz="1030" dirty="0"/>
          </a:p>
        </p:txBody>
      </p:sp>
      <p:sp>
        <p:nvSpPr>
          <p:cNvPr id="25" name="Shape 23"/>
          <p:cNvSpPr/>
          <p:nvPr/>
        </p:nvSpPr>
        <p:spPr>
          <a:xfrm>
            <a:off x="868680" y="4956048"/>
            <a:ext cx="5212080" cy="658368"/>
          </a:xfrm>
          <a:prstGeom prst="roundRect">
            <a:avLst>
              <a:gd name="adj" fmla="val 11111"/>
            </a:avLst>
          </a:prstGeom>
          <a:solidFill>
            <a:srgbClr val="F9FAFB"/>
          </a:solidFill>
          <a:ln w="12700">
            <a:solidFill>
              <a:srgbClr val="D0D7DE"/>
            </a:solidFill>
            <a:prstDash val="solid"/>
          </a:ln>
        </p:spPr>
        <p:txBody>
          <a:bodyPr/>
          <a:lstStyle/>
          <a:p>
            <a:endParaRPr lang="en-US"/>
          </a:p>
        </p:txBody>
      </p:sp>
      <p:sp>
        <p:nvSpPr>
          <p:cNvPr id="26" name="Text 24"/>
          <p:cNvSpPr/>
          <p:nvPr/>
        </p:nvSpPr>
        <p:spPr>
          <a:xfrm>
            <a:off x="1033272" y="5120640"/>
            <a:ext cx="4882896" cy="329184"/>
          </a:xfrm>
          <a:prstGeom prst="rect">
            <a:avLst/>
          </a:prstGeom>
          <a:noFill/>
          <a:ln/>
        </p:spPr>
        <p:txBody>
          <a:bodyPr wrap="square" lIns="381" tIns="381" rIns="381" bIns="381" rtlCol="0" anchor="ctr">
            <a:normAutofit fontScale="92500" lnSpcReduction="10000"/>
          </a:bodyPr>
          <a:lstStyle/>
          <a:p>
            <a:pPr marL="0" indent="0">
              <a:buNone/>
            </a:pPr>
            <a:r>
              <a:rPr lang="en-US" sz="1200" dirty="0">
                <a:solidFill>
                  <a:srgbClr val="1F3556"/>
                </a:solidFill>
              </a:rPr>
              <a:t>Mono-class index cohort: 62,448 patients. This removes ambiguous same-day multi-class starts before building LOT1 -&gt; LOT2 pathways.</a:t>
            </a:r>
            <a:endParaRPr lang="en-US" sz="1200" dirty="0"/>
          </a:p>
        </p:txBody>
      </p:sp>
      <p:sp>
        <p:nvSpPr>
          <p:cNvPr id="27" name="Shape 25"/>
          <p:cNvSpPr/>
          <p:nvPr/>
        </p:nvSpPr>
        <p:spPr>
          <a:xfrm>
            <a:off x="6355080" y="4956048"/>
            <a:ext cx="5029200" cy="658368"/>
          </a:xfrm>
          <a:prstGeom prst="roundRect">
            <a:avLst>
              <a:gd name="adj" fmla="val 11111"/>
            </a:avLst>
          </a:prstGeom>
          <a:solidFill>
            <a:srgbClr val="FFF6D6"/>
          </a:solidFill>
          <a:ln w="12700">
            <a:solidFill>
              <a:srgbClr val="F2C14E"/>
            </a:solidFill>
            <a:prstDash val="solid"/>
          </a:ln>
        </p:spPr>
        <p:txBody>
          <a:bodyPr/>
          <a:lstStyle/>
          <a:p>
            <a:endParaRPr lang="en-US"/>
          </a:p>
        </p:txBody>
      </p:sp>
      <p:sp>
        <p:nvSpPr>
          <p:cNvPr id="28" name="Text 26"/>
          <p:cNvSpPr/>
          <p:nvPr/>
        </p:nvSpPr>
        <p:spPr>
          <a:xfrm>
            <a:off x="6519672" y="5120640"/>
            <a:ext cx="4700016" cy="329184"/>
          </a:xfrm>
          <a:prstGeom prst="rect">
            <a:avLst/>
          </a:prstGeom>
          <a:noFill/>
          <a:ln/>
        </p:spPr>
        <p:txBody>
          <a:bodyPr wrap="square" lIns="381" tIns="381" rIns="381" bIns="381" rtlCol="0" anchor="ctr">
            <a:normAutofit fontScale="92500" lnSpcReduction="10000"/>
          </a:bodyPr>
          <a:lstStyle/>
          <a:p>
            <a:pPr marL="0" indent="0">
              <a:buNone/>
            </a:pPr>
            <a:r>
              <a:rPr lang="en-US" sz="1200" dirty="0">
                <a:solidFill>
                  <a:srgbClr val="1F3556"/>
                </a:solidFill>
              </a:rPr>
              <a:t>Drug exposure QC: missing end dates required imputation rules so class episodes and overlap days could be calculated consistently.</a:t>
            </a:r>
            <a:endParaRPr lang="en-US" sz="1200" dirty="0"/>
          </a:p>
        </p:txBody>
      </p:sp>
      <p:sp>
        <p:nvSpPr>
          <p:cNvPr id="29" name="Text 27"/>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55600" y="292608"/>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Definitions that anchor the analysis</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Many misunderstandings disappear once LOT1, LOT2, and overlap are defined consistently.</a:t>
            </a:r>
            <a:endParaRPr lang="en-US" sz="1050" dirty="0"/>
          </a:p>
        </p:txBody>
      </p:sp>
      <p:sp>
        <p:nvSpPr>
          <p:cNvPr id="6" name="Shape 4"/>
          <p:cNvSpPr/>
          <p:nvPr/>
        </p:nvSpPr>
        <p:spPr>
          <a:xfrm>
            <a:off x="1417320" y="3429000"/>
            <a:ext cx="9326880" cy="0"/>
          </a:xfrm>
          <a:prstGeom prst="line">
            <a:avLst/>
          </a:prstGeom>
          <a:noFill/>
          <a:ln w="16510">
            <a:solidFill>
              <a:srgbClr val="6B7280"/>
            </a:solidFill>
            <a:prstDash val="solid"/>
            <a:headEnd type="none"/>
            <a:tailEnd type="triangle"/>
          </a:ln>
        </p:spPr>
        <p:txBody>
          <a:bodyPr/>
          <a:lstStyle/>
          <a:p>
            <a:endParaRPr lang="en-US"/>
          </a:p>
        </p:txBody>
      </p:sp>
      <p:sp>
        <p:nvSpPr>
          <p:cNvPr id="7" name="Shape 5"/>
          <p:cNvSpPr/>
          <p:nvPr/>
        </p:nvSpPr>
        <p:spPr>
          <a:xfrm>
            <a:off x="2743200" y="3182112"/>
            <a:ext cx="0" cy="502920"/>
          </a:xfrm>
          <a:prstGeom prst="line">
            <a:avLst/>
          </a:prstGeom>
          <a:noFill/>
          <a:ln w="25400">
            <a:solidFill>
              <a:srgbClr val="4C78A8"/>
            </a:solidFill>
            <a:prstDash val="solid"/>
          </a:ln>
        </p:spPr>
        <p:txBody>
          <a:bodyPr/>
          <a:lstStyle/>
          <a:p>
            <a:endParaRPr lang="en-US"/>
          </a:p>
        </p:txBody>
      </p:sp>
      <p:sp>
        <p:nvSpPr>
          <p:cNvPr id="8" name="Shape 6"/>
          <p:cNvSpPr/>
          <p:nvPr/>
        </p:nvSpPr>
        <p:spPr>
          <a:xfrm>
            <a:off x="5486400" y="3182112"/>
            <a:ext cx="0" cy="502920"/>
          </a:xfrm>
          <a:prstGeom prst="line">
            <a:avLst/>
          </a:prstGeom>
          <a:noFill/>
          <a:ln w="25400">
            <a:solidFill>
              <a:srgbClr val="EF6F5E"/>
            </a:solidFill>
            <a:prstDash val="solid"/>
          </a:ln>
        </p:spPr>
        <p:txBody>
          <a:bodyPr/>
          <a:lstStyle/>
          <a:p>
            <a:endParaRPr lang="en-US"/>
          </a:p>
        </p:txBody>
      </p:sp>
      <p:sp>
        <p:nvSpPr>
          <p:cNvPr id="9" name="Shape 7"/>
          <p:cNvSpPr/>
          <p:nvPr/>
        </p:nvSpPr>
        <p:spPr>
          <a:xfrm>
            <a:off x="7726680" y="3182112"/>
            <a:ext cx="0" cy="502920"/>
          </a:xfrm>
          <a:prstGeom prst="line">
            <a:avLst/>
          </a:prstGeom>
          <a:noFill/>
          <a:ln w="25400">
            <a:solidFill>
              <a:srgbClr val="2CB7B0"/>
            </a:solidFill>
            <a:prstDash val="solid"/>
          </a:ln>
        </p:spPr>
        <p:txBody>
          <a:bodyPr/>
          <a:lstStyle/>
          <a:p>
            <a:endParaRPr lang="en-US"/>
          </a:p>
        </p:txBody>
      </p:sp>
      <p:sp>
        <p:nvSpPr>
          <p:cNvPr id="10" name="Text 8"/>
          <p:cNvSpPr/>
          <p:nvPr/>
        </p:nvSpPr>
        <p:spPr>
          <a:xfrm>
            <a:off x="2148840" y="2606040"/>
            <a:ext cx="1188720" cy="438912"/>
          </a:xfrm>
          <a:prstGeom prst="rect">
            <a:avLst/>
          </a:prstGeom>
          <a:noFill/>
          <a:ln/>
        </p:spPr>
        <p:txBody>
          <a:bodyPr wrap="square" lIns="0" tIns="0" rIns="0" bIns="0" rtlCol="0" anchor="ctr"/>
          <a:lstStyle/>
          <a:p>
            <a:pPr marL="0" indent="0" algn="ctr">
              <a:buNone/>
            </a:pPr>
            <a:r>
              <a:rPr lang="en-US" sz="1000" b="1" dirty="0">
                <a:solidFill>
                  <a:srgbClr val="4C78A8"/>
                </a:solidFill>
              </a:rPr>
              <a:t>first MDD</a:t>
            </a:r>
            <a:endParaRPr lang="en-US" sz="1000" dirty="0"/>
          </a:p>
          <a:p>
            <a:pPr marL="0" indent="0" algn="ctr">
              <a:buNone/>
            </a:pPr>
            <a:r>
              <a:rPr lang="en-US" sz="1000" b="1" dirty="0">
                <a:solidFill>
                  <a:srgbClr val="4C78A8"/>
                </a:solidFill>
              </a:rPr>
              <a:t>diagnosis</a:t>
            </a:r>
            <a:endParaRPr lang="en-US" sz="1000" dirty="0"/>
          </a:p>
        </p:txBody>
      </p:sp>
      <p:sp>
        <p:nvSpPr>
          <p:cNvPr id="11" name="Text 9"/>
          <p:cNvSpPr/>
          <p:nvPr/>
        </p:nvSpPr>
        <p:spPr>
          <a:xfrm>
            <a:off x="5001768" y="2606040"/>
            <a:ext cx="1005840" cy="438912"/>
          </a:xfrm>
          <a:prstGeom prst="rect">
            <a:avLst/>
          </a:prstGeom>
          <a:noFill/>
          <a:ln/>
        </p:spPr>
        <p:txBody>
          <a:bodyPr wrap="square" lIns="0" tIns="0" rIns="0" bIns="0" rtlCol="0" anchor="ctr"/>
          <a:lstStyle/>
          <a:p>
            <a:pPr marL="0" indent="0" algn="ctr">
              <a:buNone/>
            </a:pPr>
            <a:r>
              <a:rPr lang="en-US" sz="1000" b="1" dirty="0">
                <a:solidFill>
                  <a:srgbClr val="EF6F5E"/>
                </a:solidFill>
              </a:rPr>
              <a:t>index drug</a:t>
            </a:r>
            <a:endParaRPr lang="en-US" sz="1000" dirty="0"/>
          </a:p>
          <a:p>
            <a:pPr marL="0" indent="0" algn="ctr">
              <a:buNone/>
            </a:pPr>
            <a:r>
              <a:rPr lang="en-US" sz="1000" b="1" dirty="0">
                <a:solidFill>
                  <a:srgbClr val="EF6F5E"/>
                </a:solidFill>
              </a:rPr>
              <a:t>date</a:t>
            </a:r>
            <a:endParaRPr lang="en-US" sz="1000" dirty="0"/>
          </a:p>
        </p:txBody>
      </p:sp>
      <p:sp>
        <p:nvSpPr>
          <p:cNvPr id="12" name="Text 10"/>
          <p:cNvSpPr/>
          <p:nvPr/>
        </p:nvSpPr>
        <p:spPr>
          <a:xfrm>
            <a:off x="7086600" y="2523744"/>
            <a:ext cx="1417320" cy="530352"/>
          </a:xfrm>
          <a:prstGeom prst="rect">
            <a:avLst/>
          </a:prstGeom>
          <a:noFill/>
          <a:ln/>
        </p:spPr>
        <p:txBody>
          <a:bodyPr wrap="square" lIns="0" tIns="0" rIns="0" bIns="0" rtlCol="0" anchor="ctr"/>
          <a:lstStyle/>
          <a:p>
            <a:pPr marL="0" indent="0" algn="ctr">
              <a:buNone/>
            </a:pPr>
            <a:r>
              <a:rPr lang="en-US" sz="1000" b="1" dirty="0">
                <a:solidFill>
                  <a:srgbClr val="2CB7B0"/>
                </a:solidFill>
              </a:rPr>
              <a:t>earliest non-index</a:t>
            </a:r>
            <a:endParaRPr lang="en-US" sz="1000" dirty="0"/>
          </a:p>
          <a:p>
            <a:pPr marL="0" indent="0" algn="ctr">
              <a:buNone/>
            </a:pPr>
            <a:r>
              <a:rPr lang="en-US" sz="1000" b="1" dirty="0">
                <a:solidFill>
                  <a:srgbClr val="2CB7B0"/>
                </a:solidFill>
              </a:rPr>
              <a:t>class starts</a:t>
            </a:r>
            <a:endParaRPr lang="en-US" sz="1000" dirty="0"/>
          </a:p>
        </p:txBody>
      </p:sp>
      <p:sp>
        <p:nvSpPr>
          <p:cNvPr id="13" name="Shape 11"/>
          <p:cNvSpPr/>
          <p:nvPr/>
        </p:nvSpPr>
        <p:spPr>
          <a:xfrm>
            <a:off x="5486399" y="4023360"/>
            <a:ext cx="2834631" cy="440942"/>
          </a:xfrm>
          <a:prstGeom prst="roundRect">
            <a:avLst>
              <a:gd name="adj" fmla="val 6667"/>
            </a:avLst>
          </a:prstGeom>
          <a:solidFill>
            <a:srgbClr val="EAF3FA"/>
          </a:solidFill>
          <a:ln w="12700">
            <a:solidFill>
              <a:srgbClr val="4C78A8"/>
            </a:solidFill>
            <a:prstDash val="solid"/>
          </a:ln>
        </p:spPr>
        <p:txBody>
          <a:bodyPr/>
          <a:lstStyle/>
          <a:p>
            <a:endParaRPr lang="en-US"/>
          </a:p>
        </p:txBody>
      </p:sp>
      <p:sp>
        <p:nvSpPr>
          <p:cNvPr id="14" name="Text 12"/>
          <p:cNvSpPr/>
          <p:nvPr/>
        </p:nvSpPr>
        <p:spPr>
          <a:xfrm>
            <a:off x="5504688" y="4080762"/>
            <a:ext cx="2743200" cy="320039"/>
          </a:xfrm>
          <a:prstGeom prst="rect">
            <a:avLst/>
          </a:prstGeom>
          <a:noFill/>
          <a:ln/>
        </p:spPr>
        <p:txBody>
          <a:bodyPr wrap="square" lIns="0" tIns="0" rIns="0" bIns="0" rtlCol="0" anchor="ctr"/>
          <a:lstStyle/>
          <a:p>
            <a:pPr marL="0" indent="0" algn="ctr">
              <a:buNone/>
            </a:pPr>
            <a:r>
              <a:rPr lang="en-US" sz="1000" b="1" dirty="0">
                <a:solidFill>
                  <a:srgbClr val="4C78A8"/>
                </a:solidFill>
              </a:rPr>
              <a:t>LOT1 episode</a:t>
            </a:r>
            <a:r>
              <a:rPr lang="zh-CN" altLang="en-US" sz="1000" b="1" dirty="0">
                <a:solidFill>
                  <a:srgbClr val="4C78A8"/>
                </a:solidFill>
              </a:rPr>
              <a:t> </a:t>
            </a:r>
            <a:r>
              <a:rPr lang="en-CA" altLang="zh-CN" sz="1000" b="1" dirty="0">
                <a:solidFill>
                  <a:srgbClr val="4C78A8"/>
                </a:solidFill>
              </a:rPr>
              <a:t>(same patient use the same drug class &lt;30 days  combined as the same episode</a:t>
            </a:r>
            <a:endParaRPr lang="en-US" sz="1000" dirty="0"/>
          </a:p>
        </p:txBody>
      </p:sp>
      <p:sp>
        <p:nvSpPr>
          <p:cNvPr id="15" name="Shape 13"/>
          <p:cNvSpPr/>
          <p:nvPr/>
        </p:nvSpPr>
        <p:spPr>
          <a:xfrm>
            <a:off x="7726680" y="4554727"/>
            <a:ext cx="2057400" cy="411480"/>
          </a:xfrm>
          <a:prstGeom prst="roundRect">
            <a:avLst>
              <a:gd name="adj" fmla="val 6667"/>
            </a:avLst>
          </a:prstGeom>
          <a:solidFill>
            <a:srgbClr val="FCEDEB"/>
          </a:solidFill>
          <a:ln w="12700">
            <a:solidFill>
              <a:srgbClr val="EF6F5E"/>
            </a:solidFill>
            <a:prstDash val="solid"/>
          </a:ln>
        </p:spPr>
        <p:txBody>
          <a:bodyPr/>
          <a:lstStyle/>
          <a:p>
            <a:endParaRPr lang="en-US"/>
          </a:p>
        </p:txBody>
      </p:sp>
      <p:sp>
        <p:nvSpPr>
          <p:cNvPr id="16" name="Text 14"/>
          <p:cNvSpPr/>
          <p:nvPr/>
        </p:nvSpPr>
        <p:spPr>
          <a:xfrm>
            <a:off x="7955280" y="4681728"/>
            <a:ext cx="1417320" cy="182880"/>
          </a:xfrm>
          <a:prstGeom prst="rect">
            <a:avLst/>
          </a:prstGeom>
          <a:noFill/>
          <a:ln/>
        </p:spPr>
        <p:txBody>
          <a:bodyPr wrap="square" lIns="0" tIns="0" rIns="0" bIns="0" rtlCol="0" anchor="ctr"/>
          <a:lstStyle/>
          <a:p>
            <a:pPr marL="0" indent="0" algn="ctr">
              <a:buNone/>
            </a:pPr>
            <a:r>
              <a:rPr lang="en-US" sz="1000" b="1" dirty="0">
                <a:solidFill>
                  <a:srgbClr val="EF6F5E"/>
                </a:solidFill>
              </a:rPr>
              <a:t>LOT2 episode</a:t>
            </a:r>
            <a:endParaRPr lang="en-US" sz="1000" dirty="0"/>
          </a:p>
        </p:txBody>
      </p:sp>
      <p:sp>
        <p:nvSpPr>
          <p:cNvPr id="17" name="Shape 15"/>
          <p:cNvSpPr/>
          <p:nvPr/>
        </p:nvSpPr>
        <p:spPr>
          <a:xfrm>
            <a:off x="7726680" y="5056632"/>
            <a:ext cx="502920" cy="127001"/>
          </a:xfrm>
          <a:prstGeom prst="rect">
            <a:avLst/>
          </a:prstGeom>
          <a:solidFill>
            <a:srgbClr val="FFE8A3">
              <a:alpha val="90000"/>
            </a:srgbClr>
          </a:solidFill>
          <a:ln w="12700">
            <a:solidFill>
              <a:srgbClr val="FFE8A3"/>
            </a:solidFill>
            <a:prstDash val="solid"/>
          </a:ln>
        </p:spPr>
        <p:txBody>
          <a:bodyPr/>
          <a:lstStyle/>
          <a:p>
            <a:endParaRPr lang="en-US"/>
          </a:p>
        </p:txBody>
      </p:sp>
      <p:sp>
        <p:nvSpPr>
          <p:cNvPr id="18" name="Text 16"/>
          <p:cNvSpPr/>
          <p:nvPr/>
        </p:nvSpPr>
        <p:spPr>
          <a:xfrm>
            <a:off x="7383780" y="5274058"/>
            <a:ext cx="1143000" cy="329184"/>
          </a:xfrm>
          <a:prstGeom prst="rect">
            <a:avLst/>
          </a:prstGeom>
          <a:noFill/>
          <a:ln/>
        </p:spPr>
        <p:txBody>
          <a:bodyPr wrap="square" lIns="0" tIns="0" rIns="0" bIns="0" rtlCol="0" anchor="ctr"/>
          <a:lstStyle/>
          <a:p>
            <a:pPr marL="0" indent="0" algn="ctr">
              <a:buNone/>
            </a:pPr>
            <a:r>
              <a:rPr lang="en-US" sz="950" b="1" dirty="0">
                <a:solidFill>
                  <a:srgbClr val="9A6A00"/>
                </a:solidFill>
              </a:rPr>
              <a:t>overlap</a:t>
            </a:r>
            <a:endParaRPr lang="en-US" sz="950" dirty="0"/>
          </a:p>
          <a:p>
            <a:pPr marL="0" indent="0" algn="ctr">
              <a:buNone/>
            </a:pPr>
            <a:r>
              <a:rPr lang="en-US" sz="950" b="1" dirty="0">
                <a:solidFill>
                  <a:srgbClr val="9A6A00"/>
                </a:solidFill>
              </a:rPr>
              <a:t>days</a:t>
            </a:r>
            <a:endParaRPr lang="en-US" sz="950" dirty="0"/>
          </a:p>
        </p:txBody>
      </p:sp>
      <p:sp>
        <p:nvSpPr>
          <p:cNvPr id="19" name="Text 17"/>
          <p:cNvSpPr/>
          <p:nvPr/>
        </p:nvSpPr>
        <p:spPr>
          <a:xfrm>
            <a:off x="777240" y="1078992"/>
            <a:ext cx="777240" cy="228600"/>
          </a:xfrm>
          <a:prstGeom prst="rect">
            <a:avLst/>
          </a:prstGeom>
          <a:noFill/>
          <a:ln/>
        </p:spPr>
        <p:txBody>
          <a:bodyPr wrap="square" lIns="0" tIns="0" rIns="0" bIns="0" rtlCol="0" anchor="ctr"/>
          <a:lstStyle/>
          <a:p>
            <a:pPr marL="0" indent="0">
              <a:buNone/>
            </a:pPr>
            <a:r>
              <a:rPr lang="en-US" sz="1100" b="1" dirty="0">
                <a:solidFill>
                  <a:srgbClr val="1F3556"/>
                </a:solidFill>
              </a:rPr>
              <a:t>LOT1</a:t>
            </a:r>
            <a:endParaRPr lang="en-US" sz="1100" dirty="0"/>
          </a:p>
        </p:txBody>
      </p:sp>
      <p:sp>
        <p:nvSpPr>
          <p:cNvPr id="20" name="Text 18"/>
          <p:cNvSpPr/>
          <p:nvPr/>
        </p:nvSpPr>
        <p:spPr>
          <a:xfrm>
            <a:off x="2057400" y="1078992"/>
            <a:ext cx="9235440" cy="228600"/>
          </a:xfrm>
          <a:prstGeom prst="rect">
            <a:avLst/>
          </a:prstGeom>
          <a:noFill/>
          <a:ln/>
        </p:spPr>
        <p:txBody>
          <a:bodyPr wrap="square" lIns="0" tIns="0" rIns="0" bIns="0" rtlCol="0" anchor="ctr"/>
          <a:lstStyle/>
          <a:p>
            <a:pPr marL="0" indent="0">
              <a:buNone/>
            </a:pPr>
            <a:r>
              <a:rPr lang="en-US" sz="1070" dirty="0">
                <a:solidFill>
                  <a:srgbClr val="374151"/>
                </a:solidFill>
              </a:rPr>
              <a:t>first observed antidepressant treatment class after index MDD diagnosis</a:t>
            </a:r>
            <a:endParaRPr lang="en-US" sz="1070" dirty="0"/>
          </a:p>
        </p:txBody>
      </p:sp>
      <p:sp>
        <p:nvSpPr>
          <p:cNvPr id="21" name="Text 19"/>
          <p:cNvSpPr/>
          <p:nvPr/>
        </p:nvSpPr>
        <p:spPr>
          <a:xfrm>
            <a:off x="777240" y="1426464"/>
            <a:ext cx="777240" cy="228600"/>
          </a:xfrm>
          <a:prstGeom prst="rect">
            <a:avLst/>
          </a:prstGeom>
          <a:noFill/>
          <a:ln/>
        </p:spPr>
        <p:txBody>
          <a:bodyPr wrap="square" lIns="0" tIns="0" rIns="0" bIns="0" rtlCol="0" anchor="ctr"/>
          <a:lstStyle/>
          <a:p>
            <a:pPr marL="0" indent="0">
              <a:buNone/>
            </a:pPr>
            <a:r>
              <a:rPr lang="en-US" sz="1100" b="1" dirty="0">
                <a:solidFill>
                  <a:srgbClr val="1F3556"/>
                </a:solidFill>
              </a:rPr>
              <a:t>LOT2</a:t>
            </a:r>
            <a:endParaRPr lang="en-US" sz="1100" dirty="0"/>
          </a:p>
        </p:txBody>
      </p:sp>
      <p:sp>
        <p:nvSpPr>
          <p:cNvPr id="22" name="Text 20"/>
          <p:cNvSpPr/>
          <p:nvPr/>
        </p:nvSpPr>
        <p:spPr>
          <a:xfrm>
            <a:off x="2057400" y="1426464"/>
            <a:ext cx="9235440" cy="228600"/>
          </a:xfrm>
          <a:prstGeom prst="rect">
            <a:avLst/>
          </a:prstGeom>
          <a:noFill/>
          <a:ln/>
        </p:spPr>
        <p:txBody>
          <a:bodyPr wrap="square" lIns="0" tIns="0" rIns="0" bIns="0" rtlCol="0" anchor="ctr"/>
          <a:lstStyle/>
          <a:p>
            <a:pPr marL="0" indent="0">
              <a:buNone/>
            </a:pPr>
            <a:r>
              <a:rPr lang="en-US" sz="1070" dirty="0">
                <a:solidFill>
                  <a:srgbClr val="374151"/>
                </a:solidFill>
              </a:rPr>
              <a:t>first qualifying subsequent non-index antidepressant class</a:t>
            </a:r>
            <a:endParaRPr lang="en-US" sz="1070" dirty="0"/>
          </a:p>
        </p:txBody>
      </p:sp>
      <p:sp>
        <p:nvSpPr>
          <p:cNvPr id="23" name="Text 21"/>
          <p:cNvSpPr/>
          <p:nvPr/>
        </p:nvSpPr>
        <p:spPr>
          <a:xfrm>
            <a:off x="777240" y="1773936"/>
            <a:ext cx="777240" cy="228600"/>
          </a:xfrm>
          <a:prstGeom prst="rect">
            <a:avLst/>
          </a:prstGeom>
          <a:noFill/>
          <a:ln/>
        </p:spPr>
        <p:txBody>
          <a:bodyPr wrap="square" lIns="0" tIns="0" rIns="0" bIns="0" rtlCol="0" anchor="ctr"/>
          <a:lstStyle/>
          <a:p>
            <a:pPr marL="0" indent="0">
              <a:buNone/>
            </a:pPr>
            <a:r>
              <a:rPr lang="en-US" sz="1100" b="1" dirty="0">
                <a:solidFill>
                  <a:srgbClr val="1F3556"/>
                </a:solidFill>
              </a:rPr>
              <a:t>Overlap</a:t>
            </a:r>
            <a:endParaRPr lang="en-US" sz="1100" dirty="0"/>
          </a:p>
        </p:txBody>
      </p:sp>
      <p:sp>
        <p:nvSpPr>
          <p:cNvPr id="24" name="Text 22"/>
          <p:cNvSpPr/>
          <p:nvPr/>
        </p:nvSpPr>
        <p:spPr>
          <a:xfrm>
            <a:off x="2057400" y="1773936"/>
            <a:ext cx="9235440" cy="228600"/>
          </a:xfrm>
          <a:prstGeom prst="rect">
            <a:avLst/>
          </a:prstGeom>
          <a:noFill/>
          <a:ln/>
        </p:spPr>
        <p:txBody>
          <a:bodyPr wrap="square" lIns="0" tIns="0" rIns="0" bIns="0" rtlCol="0" anchor="ctr"/>
          <a:lstStyle/>
          <a:p>
            <a:pPr marL="0" indent="0">
              <a:buNone/>
            </a:pPr>
            <a:r>
              <a:rPr lang="en-US" sz="1070" dirty="0">
                <a:solidFill>
                  <a:srgbClr val="374151"/>
                </a:solidFill>
              </a:rPr>
              <a:t>intersection between LOT1 and LOT2 episodes: max(starts) to min(ends)</a:t>
            </a:r>
            <a:endParaRPr lang="en-US" sz="1070" dirty="0"/>
          </a:p>
        </p:txBody>
      </p:sp>
      <p:sp>
        <p:nvSpPr>
          <p:cNvPr id="25" name="Text 23"/>
          <p:cNvSpPr/>
          <p:nvPr/>
        </p:nvSpPr>
        <p:spPr>
          <a:xfrm>
            <a:off x="777240" y="2121408"/>
            <a:ext cx="1371600" cy="228569"/>
          </a:xfrm>
          <a:prstGeom prst="rect">
            <a:avLst/>
          </a:prstGeom>
          <a:noFill/>
          <a:ln/>
        </p:spPr>
        <p:txBody>
          <a:bodyPr wrap="square" lIns="0" tIns="0" rIns="0" bIns="0" rtlCol="0" anchor="ctr"/>
          <a:lstStyle/>
          <a:p>
            <a:pPr marL="0" indent="0">
              <a:buNone/>
            </a:pPr>
            <a:r>
              <a:rPr lang="en-US" sz="1100" b="1" dirty="0">
                <a:solidFill>
                  <a:srgbClr val="1F3556"/>
                </a:solidFill>
              </a:rPr>
              <a:t>No qualifying LOT2</a:t>
            </a:r>
            <a:endParaRPr lang="en-US" sz="1100" dirty="0"/>
          </a:p>
        </p:txBody>
      </p:sp>
      <p:sp>
        <p:nvSpPr>
          <p:cNvPr id="26" name="Text 24"/>
          <p:cNvSpPr/>
          <p:nvPr/>
        </p:nvSpPr>
        <p:spPr>
          <a:xfrm>
            <a:off x="2057400" y="2121408"/>
            <a:ext cx="9235440" cy="228600"/>
          </a:xfrm>
          <a:prstGeom prst="rect">
            <a:avLst/>
          </a:prstGeom>
          <a:noFill/>
          <a:ln/>
        </p:spPr>
        <p:txBody>
          <a:bodyPr wrap="square" lIns="0" tIns="0" rIns="0" bIns="0" rtlCol="0" anchor="ctr"/>
          <a:lstStyle/>
          <a:p>
            <a:pPr marL="0" indent="0">
              <a:buNone/>
            </a:pPr>
            <a:r>
              <a:rPr lang="en-US" sz="1070" dirty="0">
                <a:solidFill>
                  <a:srgbClr val="374151"/>
                </a:solidFill>
              </a:rPr>
              <a:t>patient had no subsequent non-index class in the window</a:t>
            </a:r>
            <a:endParaRPr lang="en-US" sz="1070" dirty="0"/>
          </a:p>
        </p:txBody>
      </p:sp>
      <p:sp>
        <p:nvSpPr>
          <p:cNvPr id="27" name="Text 25"/>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Table 6: Sankey diagrams translate tables into treatment pathways</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Recent 5-year window shown as an example. Flow width represents patient count.</a:t>
            </a:r>
            <a:endParaRPr lang="en-US" sz="1050" dirty="0"/>
          </a:p>
        </p:txBody>
      </p:sp>
      <p:pic>
        <p:nvPicPr>
          <p:cNvPr id="6" name="Image 0" descr="/mnt/data/Table6_Sankey_LOT_recent5year.png"/>
          <p:cNvPicPr>
            <a:picLocks noChangeAspect="1"/>
          </p:cNvPicPr>
          <p:nvPr/>
        </p:nvPicPr>
        <p:blipFill>
          <a:blip r:embed="rId3"/>
          <a:srcRect l="3864" r="16570" b="13908"/>
          <a:stretch>
            <a:fillRect/>
          </a:stretch>
        </p:blipFill>
        <p:spPr>
          <a:xfrm>
            <a:off x="436589" y="1088136"/>
            <a:ext cx="8460523" cy="5340096"/>
          </a:xfrm>
          <a:prstGeom prst="rect">
            <a:avLst/>
          </a:prstGeom>
        </p:spPr>
      </p:pic>
      <p:sp>
        <p:nvSpPr>
          <p:cNvPr id="7" name="Shape 4"/>
          <p:cNvSpPr/>
          <p:nvPr/>
        </p:nvSpPr>
        <p:spPr>
          <a:xfrm>
            <a:off x="8732520" y="1234440"/>
            <a:ext cx="2743200" cy="1581912"/>
          </a:xfrm>
          <a:prstGeom prst="roundRect">
            <a:avLst>
              <a:gd name="adj" fmla="val 15385"/>
            </a:avLst>
          </a:prstGeom>
          <a:solidFill>
            <a:srgbClr val="E7F7F6"/>
          </a:solidFill>
          <a:ln w="12700">
            <a:solidFill>
              <a:srgbClr val="2CB7B0"/>
            </a:solidFill>
            <a:prstDash val="solid"/>
          </a:ln>
        </p:spPr>
        <p:txBody>
          <a:bodyPr/>
          <a:lstStyle/>
          <a:p>
            <a:endParaRPr lang="en-US" dirty="0"/>
          </a:p>
        </p:txBody>
      </p:sp>
      <p:sp>
        <p:nvSpPr>
          <p:cNvPr id="8" name="Text 5"/>
          <p:cNvSpPr/>
          <p:nvPr/>
        </p:nvSpPr>
        <p:spPr>
          <a:xfrm>
            <a:off x="8897112" y="1399032"/>
            <a:ext cx="2414016" cy="1316736"/>
          </a:xfrm>
          <a:prstGeom prst="rect">
            <a:avLst/>
          </a:prstGeom>
          <a:noFill/>
          <a:ln/>
        </p:spPr>
        <p:txBody>
          <a:bodyPr wrap="square" lIns="381" tIns="381" rIns="381" bIns="381" rtlCol="0" anchor="ctr">
            <a:normAutofit/>
          </a:bodyPr>
          <a:lstStyle/>
          <a:p>
            <a:pPr marL="0" indent="0">
              <a:buNone/>
            </a:pPr>
            <a:r>
              <a:rPr lang="en-US" sz="1200" dirty="0">
                <a:solidFill>
                  <a:srgbClr val="1F3556"/>
                </a:solidFill>
              </a:rPr>
              <a:t>How to read it?</a:t>
            </a:r>
          </a:p>
          <a:p>
            <a:pPr marL="0" indent="0">
              <a:buNone/>
            </a:pPr>
            <a:endParaRPr lang="en-US" sz="1200" dirty="0">
              <a:solidFill>
                <a:srgbClr val="1F3556"/>
              </a:solidFill>
            </a:endParaRPr>
          </a:p>
          <a:p>
            <a:r>
              <a:rPr lang="en-US" sz="1200" dirty="0">
                <a:solidFill>
                  <a:srgbClr val="374151"/>
                </a:solidFill>
              </a:rPr>
              <a:t>Left: LOT1 index class</a:t>
            </a:r>
            <a:endParaRPr lang="en-US" sz="1200" dirty="0"/>
          </a:p>
          <a:p>
            <a:r>
              <a:rPr lang="en-US" sz="1200" dirty="0">
                <a:solidFill>
                  <a:srgbClr val="374151"/>
                </a:solidFill>
              </a:rPr>
              <a:t>Middle: earliest LOT2 class</a:t>
            </a:r>
            <a:endParaRPr lang="en-US" sz="1200" dirty="0"/>
          </a:p>
          <a:p>
            <a:r>
              <a:rPr lang="en-US" sz="1200" dirty="0">
                <a:solidFill>
                  <a:srgbClr val="374151"/>
                </a:solidFill>
              </a:rPr>
              <a:t>Right: overlap outcome</a:t>
            </a:r>
            <a:endParaRPr lang="en-US" sz="1200" dirty="0"/>
          </a:p>
          <a:p>
            <a:pPr marL="0" indent="0">
              <a:buNone/>
            </a:pPr>
            <a:br>
              <a:rPr lang="en-US" sz="1200" dirty="0">
                <a:solidFill>
                  <a:srgbClr val="1F3556"/>
                </a:solidFill>
              </a:rPr>
            </a:br>
            <a:endParaRPr lang="en-US" sz="1200" dirty="0"/>
          </a:p>
        </p:txBody>
      </p:sp>
      <p:sp>
        <p:nvSpPr>
          <p:cNvPr id="9" name="Text 6"/>
          <p:cNvSpPr/>
          <p:nvPr/>
        </p:nvSpPr>
        <p:spPr>
          <a:xfrm>
            <a:off x="8897112" y="1755648"/>
            <a:ext cx="2331720" cy="960120"/>
          </a:xfrm>
          <a:prstGeom prst="rect">
            <a:avLst/>
          </a:prstGeom>
          <a:noFill/>
          <a:ln/>
        </p:spPr>
        <p:txBody>
          <a:bodyPr wrap="square" lIns="254" tIns="254" rIns="254" bIns="254" rtlCol="0" anchor="ctr"/>
          <a:lstStyle/>
          <a:p>
            <a:pPr marL="0" indent="0">
              <a:buNone/>
            </a:pPr>
            <a:endParaRPr lang="en-US" sz="1200" dirty="0"/>
          </a:p>
        </p:txBody>
      </p:sp>
      <p:sp>
        <p:nvSpPr>
          <p:cNvPr id="10" name="Shape 7"/>
          <p:cNvSpPr/>
          <p:nvPr/>
        </p:nvSpPr>
        <p:spPr>
          <a:xfrm>
            <a:off x="8732520" y="3186684"/>
            <a:ext cx="2743200" cy="1051560"/>
          </a:xfrm>
          <a:prstGeom prst="roundRect">
            <a:avLst>
              <a:gd name="adj" fmla="val 6957"/>
            </a:avLst>
          </a:prstGeom>
          <a:solidFill>
            <a:srgbClr val="EAF3FA"/>
          </a:solidFill>
          <a:ln w="12700">
            <a:solidFill>
              <a:srgbClr val="4C78A8"/>
            </a:solidFill>
            <a:prstDash val="solid"/>
          </a:ln>
        </p:spPr>
        <p:txBody>
          <a:bodyPr/>
          <a:lstStyle/>
          <a:p>
            <a:endParaRPr lang="en-US"/>
          </a:p>
        </p:txBody>
      </p:sp>
      <p:sp>
        <p:nvSpPr>
          <p:cNvPr id="11" name="Text 8"/>
          <p:cNvSpPr/>
          <p:nvPr/>
        </p:nvSpPr>
        <p:spPr>
          <a:xfrm>
            <a:off x="8897112" y="3351276"/>
            <a:ext cx="2414016" cy="722376"/>
          </a:xfrm>
          <a:prstGeom prst="rect">
            <a:avLst/>
          </a:prstGeom>
          <a:noFill/>
          <a:ln/>
        </p:spPr>
        <p:txBody>
          <a:bodyPr wrap="square" lIns="381" tIns="381" rIns="381" bIns="381" rtlCol="0" anchor="ctr">
            <a:normAutofit fontScale="92500" lnSpcReduction="20000"/>
          </a:bodyPr>
          <a:lstStyle/>
          <a:p>
            <a:pPr marL="0" indent="0">
              <a:buNone/>
            </a:pPr>
            <a:r>
              <a:rPr lang="en-US" sz="1200" dirty="0">
                <a:solidFill>
                  <a:srgbClr val="1F3556"/>
                </a:solidFill>
              </a:rPr>
              <a:t>Key message: many patients do not reach a qualifying non-index LOT2 within the analysis window; when LOT2 exists, most flows start from SSRI or atypical antidepressants.</a:t>
            </a:r>
            <a:endParaRPr lang="en-US" sz="1200" dirty="0"/>
          </a:p>
        </p:txBody>
      </p:sp>
      <p:sp>
        <p:nvSpPr>
          <p:cNvPr id="13" name="Text 10"/>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05" y="384048"/>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Detailed overlap categories sharpen the interpretation</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The five-category version separates 0 days, short, moderate, long, and no qualifying LOT2.</a:t>
            </a:r>
            <a:endParaRPr lang="en-US" sz="1050" dirty="0"/>
          </a:p>
        </p:txBody>
      </p:sp>
      <p:sp>
        <p:nvSpPr>
          <p:cNvPr id="7" name="Shape 4"/>
          <p:cNvSpPr/>
          <p:nvPr/>
        </p:nvSpPr>
        <p:spPr>
          <a:xfrm>
            <a:off x="8275320" y="1417320"/>
            <a:ext cx="1170432" cy="502920"/>
          </a:xfrm>
          <a:prstGeom prst="roundRect">
            <a:avLst>
              <a:gd name="adj" fmla="val 14545"/>
            </a:avLst>
          </a:prstGeom>
          <a:solidFill>
            <a:srgbClr val="EAF3FA"/>
          </a:solidFill>
          <a:ln w="10160">
            <a:solidFill>
              <a:srgbClr val="D0D7DE"/>
            </a:solidFill>
            <a:prstDash val="solid"/>
          </a:ln>
        </p:spPr>
        <p:txBody>
          <a:bodyPr/>
          <a:lstStyle/>
          <a:p>
            <a:endParaRPr lang="en-US"/>
          </a:p>
        </p:txBody>
      </p:sp>
      <p:sp>
        <p:nvSpPr>
          <p:cNvPr id="8" name="Text 5"/>
          <p:cNvSpPr/>
          <p:nvPr/>
        </p:nvSpPr>
        <p:spPr>
          <a:xfrm>
            <a:off x="8385048" y="1527048"/>
            <a:ext cx="950976" cy="28346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0 days</a:t>
            </a:r>
            <a:endParaRPr lang="en-US" sz="1200" dirty="0"/>
          </a:p>
        </p:txBody>
      </p:sp>
      <p:sp>
        <p:nvSpPr>
          <p:cNvPr id="9" name="Text 6"/>
          <p:cNvSpPr/>
          <p:nvPr/>
        </p:nvSpPr>
        <p:spPr>
          <a:xfrm>
            <a:off x="9582912" y="1527048"/>
            <a:ext cx="2057400" cy="256032"/>
          </a:xfrm>
          <a:prstGeom prst="rect">
            <a:avLst/>
          </a:prstGeom>
          <a:noFill/>
          <a:ln/>
        </p:spPr>
        <p:txBody>
          <a:bodyPr wrap="square" lIns="0" tIns="0" rIns="0" bIns="0" rtlCol="0" anchor="ctr"/>
          <a:lstStyle/>
          <a:p>
            <a:pPr marL="0" indent="0">
              <a:buNone/>
            </a:pPr>
            <a:r>
              <a:rPr lang="en-US" sz="1020" dirty="0">
                <a:solidFill>
                  <a:srgbClr val="374151"/>
                </a:solidFill>
              </a:rPr>
              <a:t>No overlap between LOT1 and LOT2</a:t>
            </a:r>
            <a:endParaRPr lang="en-US" sz="1020" dirty="0"/>
          </a:p>
        </p:txBody>
      </p:sp>
      <p:sp>
        <p:nvSpPr>
          <p:cNvPr id="10" name="Shape 7"/>
          <p:cNvSpPr/>
          <p:nvPr/>
        </p:nvSpPr>
        <p:spPr>
          <a:xfrm>
            <a:off x="8275320" y="2093976"/>
            <a:ext cx="1170432" cy="502920"/>
          </a:xfrm>
          <a:prstGeom prst="roundRect">
            <a:avLst>
              <a:gd name="adj" fmla="val 14545"/>
            </a:avLst>
          </a:prstGeom>
          <a:solidFill>
            <a:srgbClr val="E7F7F6"/>
          </a:solidFill>
          <a:ln w="10160">
            <a:solidFill>
              <a:srgbClr val="D0D7DE"/>
            </a:solidFill>
            <a:prstDash val="solid"/>
          </a:ln>
        </p:spPr>
        <p:txBody>
          <a:bodyPr/>
          <a:lstStyle/>
          <a:p>
            <a:endParaRPr lang="en-US"/>
          </a:p>
        </p:txBody>
      </p:sp>
      <p:sp>
        <p:nvSpPr>
          <p:cNvPr id="11" name="Text 8"/>
          <p:cNvSpPr/>
          <p:nvPr/>
        </p:nvSpPr>
        <p:spPr>
          <a:xfrm>
            <a:off x="8385048" y="2203704"/>
            <a:ext cx="950976" cy="28346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1-29 days</a:t>
            </a:r>
            <a:endParaRPr lang="en-US" sz="1200" dirty="0"/>
          </a:p>
        </p:txBody>
      </p:sp>
      <p:sp>
        <p:nvSpPr>
          <p:cNvPr id="12" name="Text 9"/>
          <p:cNvSpPr/>
          <p:nvPr/>
        </p:nvSpPr>
        <p:spPr>
          <a:xfrm>
            <a:off x="9582912" y="2203704"/>
            <a:ext cx="2057400" cy="256032"/>
          </a:xfrm>
          <a:prstGeom prst="rect">
            <a:avLst/>
          </a:prstGeom>
          <a:noFill/>
          <a:ln/>
        </p:spPr>
        <p:txBody>
          <a:bodyPr wrap="square" lIns="0" tIns="0" rIns="0" bIns="0" rtlCol="0" anchor="ctr"/>
          <a:lstStyle/>
          <a:p>
            <a:pPr marL="0" indent="0">
              <a:buNone/>
            </a:pPr>
            <a:r>
              <a:rPr lang="en-US" sz="1020" dirty="0">
                <a:solidFill>
                  <a:srgbClr val="374151"/>
                </a:solidFill>
              </a:rPr>
              <a:t>Short overlap</a:t>
            </a:r>
            <a:endParaRPr lang="en-US" sz="1020" dirty="0"/>
          </a:p>
        </p:txBody>
      </p:sp>
      <p:sp>
        <p:nvSpPr>
          <p:cNvPr id="13" name="Shape 10"/>
          <p:cNvSpPr/>
          <p:nvPr/>
        </p:nvSpPr>
        <p:spPr>
          <a:xfrm>
            <a:off x="8275320" y="2770632"/>
            <a:ext cx="1170432" cy="502920"/>
          </a:xfrm>
          <a:prstGeom prst="roundRect">
            <a:avLst>
              <a:gd name="adj" fmla="val 14545"/>
            </a:avLst>
          </a:prstGeom>
          <a:solidFill>
            <a:srgbClr val="FFF6D6"/>
          </a:solidFill>
          <a:ln w="10160">
            <a:solidFill>
              <a:srgbClr val="D0D7DE"/>
            </a:solidFill>
            <a:prstDash val="solid"/>
          </a:ln>
        </p:spPr>
        <p:txBody>
          <a:bodyPr/>
          <a:lstStyle/>
          <a:p>
            <a:endParaRPr lang="en-US"/>
          </a:p>
        </p:txBody>
      </p:sp>
      <p:sp>
        <p:nvSpPr>
          <p:cNvPr id="14" name="Text 11"/>
          <p:cNvSpPr/>
          <p:nvPr/>
        </p:nvSpPr>
        <p:spPr>
          <a:xfrm>
            <a:off x="8385048" y="2880360"/>
            <a:ext cx="950976" cy="28346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30-89 days</a:t>
            </a:r>
            <a:endParaRPr lang="en-US" sz="1200" dirty="0"/>
          </a:p>
        </p:txBody>
      </p:sp>
      <p:sp>
        <p:nvSpPr>
          <p:cNvPr id="15" name="Text 12"/>
          <p:cNvSpPr/>
          <p:nvPr/>
        </p:nvSpPr>
        <p:spPr>
          <a:xfrm>
            <a:off x="9582912" y="2880360"/>
            <a:ext cx="2057400" cy="256032"/>
          </a:xfrm>
          <a:prstGeom prst="rect">
            <a:avLst/>
          </a:prstGeom>
          <a:noFill/>
          <a:ln/>
        </p:spPr>
        <p:txBody>
          <a:bodyPr wrap="square" lIns="0" tIns="0" rIns="0" bIns="0" rtlCol="0" anchor="ctr"/>
          <a:lstStyle/>
          <a:p>
            <a:pPr marL="0" indent="0">
              <a:buNone/>
            </a:pPr>
            <a:r>
              <a:rPr lang="en-US" sz="1020" dirty="0">
                <a:solidFill>
                  <a:srgbClr val="374151"/>
                </a:solidFill>
              </a:rPr>
              <a:t>Moderate overlap</a:t>
            </a:r>
            <a:endParaRPr lang="en-US" sz="1020" dirty="0"/>
          </a:p>
        </p:txBody>
      </p:sp>
      <p:sp>
        <p:nvSpPr>
          <p:cNvPr id="16" name="Shape 13"/>
          <p:cNvSpPr/>
          <p:nvPr/>
        </p:nvSpPr>
        <p:spPr>
          <a:xfrm>
            <a:off x="8275320" y="3447288"/>
            <a:ext cx="1170432" cy="502920"/>
          </a:xfrm>
          <a:prstGeom prst="roundRect">
            <a:avLst>
              <a:gd name="adj" fmla="val 14545"/>
            </a:avLst>
          </a:prstGeom>
          <a:solidFill>
            <a:srgbClr val="FCEDEB"/>
          </a:solidFill>
          <a:ln w="10160">
            <a:solidFill>
              <a:srgbClr val="D0D7DE"/>
            </a:solidFill>
            <a:prstDash val="solid"/>
          </a:ln>
        </p:spPr>
        <p:txBody>
          <a:bodyPr/>
          <a:lstStyle/>
          <a:p>
            <a:endParaRPr lang="en-US"/>
          </a:p>
        </p:txBody>
      </p:sp>
      <p:sp>
        <p:nvSpPr>
          <p:cNvPr id="17" name="Text 14"/>
          <p:cNvSpPr/>
          <p:nvPr/>
        </p:nvSpPr>
        <p:spPr>
          <a:xfrm>
            <a:off x="8385048" y="3557016"/>
            <a:ext cx="950976" cy="283464"/>
          </a:xfrm>
          <a:prstGeom prst="rect">
            <a:avLst/>
          </a:prstGeom>
          <a:noFill/>
          <a:ln/>
        </p:spPr>
        <p:txBody>
          <a:bodyPr wrap="square" lIns="0" tIns="0" rIns="0" bIns="0" rtlCol="0" anchor="ctr">
            <a:normAutofit/>
          </a:bodyPr>
          <a:lstStyle/>
          <a:p>
            <a:pPr marL="0" indent="0" algn="ctr">
              <a:buNone/>
            </a:pPr>
            <a:r>
              <a:rPr lang="en-US" sz="1200" b="1" dirty="0">
                <a:solidFill>
                  <a:srgbClr val="1F3556"/>
                </a:solidFill>
              </a:rPr>
              <a:t>&gt;=90 days</a:t>
            </a:r>
            <a:endParaRPr lang="en-US" sz="1200" dirty="0"/>
          </a:p>
        </p:txBody>
      </p:sp>
      <p:sp>
        <p:nvSpPr>
          <p:cNvPr id="18" name="Text 15"/>
          <p:cNvSpPr/>
          <p:nvPr/>
        </p:nvSpPr>
        <p:spPr>
          <a:xfrm>
            <a:off x="9582912" y="3557016"/>
            <a:ext cx="2057400" cy="256032"/>
          </a:xfrm>
          <a:prstGeom prst="rect">
            <a:avLst/>
          </a:prstGeom>
          <a:noFill/>
          <a:ln/>
        </p:spPr>
        <p:txBody>
          <a:bodyPr wrap="square" lIns="0" tIns="0" rIns="0" bIns="0" rtlCol="0" anchor="ctr"/>
          <a:lstStyle/>
          <a:p>
            <a:pPr marL="0" indent="0">
              <a:buNone/>
            </a:pPr>
            <a:r>
              <a:rPr lang="en-US" sz="1020" dirty="0">
                <a:solidFill>
                  <a:srgbClr val="374151"/>
                </a:solidFill>
              </a:rPr>
              <a:t>Long overlap</a:t>
            </a:r>
            <a:endParaRPr lang="en-US" sz="1020" dirty="0"/>
          </a:p>
        </p:txBody>
      </p:sp>
      <p:sp>
        <p:nvSpPr>
          <p:cNvPr id="19" name="Shape 16"/>
          <p:cNvSpPr/>
          <p:nvPr/>
        </p:nvSpPr>
        <p:spPr>
          <a:xfrm>
            <a:off x="8275320" y="4123944"/>
            <a:ext cx="1170432" cy="502920"/>
          </a:xfrm>
          <a:prstGeom prst="roundRect">
            <a:avLst>
              <a:gd name="adj" fmla="val 14545"/>
            </a:avLst>
          </a:prstGeom>
          <a:solidFill>
            <a:srgbClr val="F3EFFE"/>
          </a:solidFill>
          <a:ln w="10160">
            <a:solidFill>
              <a:srgbClr val="D0D7DE"/>
            </a:solidFill>
            <a:prstDash val="solid"/>
          </a:ln>
        </p:spPr>
        <p:txBody>
          <a:bodyPr/>
          <a:lstStyle/>
          <a:p>
            <a:endParaRPr lang="en-US"/>
          </a:p>
        </p:txBody>
      </p:sp>
      <p:sp>
        <p:nvSpPr>
          <p:cNvPr id="20" name="Text 17"/>
          <p:cNvSpPr/>
          <p:nvPr/>
        </p:nvSpPr>
        <p:spPr>
          <a:xfrm>
            <a:off x="8385048" y="4233672"/>
            <a:ext cx="950976" cy="283464"/>
          </a:xfrm>
          <a:prstGeom prst="rect">
            <a:avLst/>
          </a:prstGeom>
          <a:noFill/>
          <a:ln/>
        </p:spPr>
        <p:txBody>
          <a:bodyPr wrap="square" lIns="0" tIns="0" rIns="0" bIns="0" rtlCol="0" anchor="ctr">
            <a:normAutofit fontScale="92500" lnSpcReduction="20000"/>
          </a:bodyPr>
          <a:lstStyle/>
          <a:p>
            <a:pPr marL="0" indent="0" algn="ctr">
              <a:buNone/>
            </a:pPr>
            <a:r>
              <a:rPr lang="en-US" sz="1200" b="1" dirty="0">
                <a:solidFill>
                  <a:srgbClr val="1F3556"/>
                </a:solidFill>
              </a:rPr>
              <a:t>No qualifying LOT2</a:t>
            </a:r>
            <a:endParaRPr lang="en-US" sz="1200" dirty="0"/>
          </a:p>
        </p:txBody>
      </p:sp>
      <p:sp>
        <p:nvSpPr>
          <p:cNvPr id="21" name="Text 18"/>
          <p:cNvSpPr/>
          <p:nvPr/>
        </p:nvSpPr>
        <p:spPr>
          <a:xfrm>
            <a:off x="9582912" y="4233672"/>
            <a:ext cx="2057400" cy="256032"/>
          </a:xfrm>
          <a:prstGeom prst="rect">
            <a:avLst/>
          </a:prstGeom>
          <a:noFill/>
          <a:ln/>
        </p:spPr>
        <p:txBody>
          <a:bodyPr wrap="square" lIns="0" tIns="0" rIns="0" bIns="0" rtlCol="0" anchor="ctr"/>
          <a:lstStyle/>
          <a:p>
            <a:pPr marL="0" indent="0">
              <a:buNone/>
            </a:pPr>
            <a:r>
              <a:rPr lang="en-US" sz="1020" dirty="0">
                <a:solidFill>
                  <a:srgbClr val="374151"/>
                </a:solidFill>
              </a:rPr>
              <a:t>No subsequent non-index class in window</a:t>
            </a:r>
            <a:endParaRPr lang="en-US" sz="1020" dirty="0"/>
          </a:p>
        </p:txBody>
      </p:sp>
      <p:sp>
        <p:nvSpPr>
          <p:cNvPr id="22" name="Text 19"/>
          <p:cNvSpPr/>
          <p:nvPr/>
        </p:nvSpPr>
        <p:spPr>
          <a:xfrm>
            <a:off x="8275320" y="5074920"/>
            <a:ext cx="1371600" cy="219456"/>
          </a:xfrm>
          <a:prstGeom prst="rect">
            <a:avLst/>
          </a:prstGeom>
          <a:noFill/>
          <a:ln/>
        </p:spPr>
        <p:txBody>
          <a:bodyPr wrap="square" lIns="0" tIns="0" rIns="0" bIns="0" rtlCol="0" anchor="ctr"/>
          <a:lstStyle/>
          <a:p>
            <a:pPr marL="0" indent="0">
              <a:buNone/>
            </a:pPr>
            <a:r>
              <a:rPr lang="en-US" sz="1200" b="1" dirty="0">
                <a:solidFill>
                  <a:srgbClr val="1F3556"/>
                </a:solidFill>
              </a:rPr>
              <a:t>Why it matters</a:t>
            </a:r>
            <a:endParaRPr lang="en-US" sz="1200" dirty="0"/>
          </a:p>
        </p:txBody>
      </p:sp>
      <p:sp>
        <p:nvSpPr>
          <p:cNvPr id="23" name="Text 20"/>
          <p:cNvSpPr/>
          <p:nvPr/>
        </p:nvSpPr>
        <p:spPr>
          <a:xfrm>
            <a:off x="8275320" y="5394960"/>
            <a:ext cx="3246120" cy="548640"/>
          </a:xfrm>
          <a:prstGeom prst="rect">
            <a:avLst/>
          </a:prstGeom>
          <a:noFill/>
          <a:ln/>
        </p:spPr>
        <p:txBody>
          <a:bodyPr wrap="square" lIns="0" tIns="0" rIns="0" bIns="0" rtlCol="0" anchor="ctr"/>
          <a:lstStyle/>
          <a:p>
            <a:pPr marL="0" indent="0">
              <a:buNone/>
            </a:pPr>
            <a:r>
              <a:rPr lang="en-US" sz="1050" dirty="0">
                <a:solidFill>
                  <a:srgbClr val="374151"/>
                </a:solidFill>
              </a:rPr>
              <a:t>A single “short/no overlap” group hides clinically different behaviors. The five-category view separates discontinuation-like transitions from cross-taper or add-on patterns.</a:t>
            </a:r>
            <a:endParaRPr lang="en-US" sz="1050" dirty="0"/>
          </a:p>
        </p:txBody>
      </p:sp>
      <p:sp>
        <p:nvSpPr>
          <p:cNvPr id="24" name="Text 21"/>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9</a:t>
            </a:r>
            <a:endParaRPr lang="en-US" sz="750" dirty="0"/>
          </a:p>
        </p:txBody>
      </p:sp>
      <p:pic>
        <p:nvPicPr>
          <p:cNvPr id="26" name="Picture 25">
            <a:extLst>
              <a:ext uri="{FF2B5EF4-FFF2-40B4-BE49-F238E27FC236}">
                <a16:creationId xmlns:a16="http://schemas.microsoft.com/office/drawing/2014/main" id="{3F4477EA-C393-6F4C-E13F-E2C35D29887C}"/>
              </a:ext>
            </a:extLst>
          </p:cNvPr>
          <p:cNvPicPr>
            <a:picLocks noChangeAspect="1"/>
          </p:cNvPicPr>
          <p:nvPr/>
        </p:nvPicPr>
        <p:blipFill>
          <a:blip r:embed="rId3"/>
          <a:srcRect r="18763" b="12829"/>
          <a:stretch>
            <a:fillRect/>
          </a:stretch>
        </p:blipFill>
        <p:spPr>
          <a:xfrm>
            <a:off x="246380" y="1294117"/>
            <a:ext cx="7891780" cy="51255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0693" y="310045"/>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Transition patterns depend strongly on follow-up window</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Longer observation increases the chance of seeing a second-line monotherapy transition.</a:t>
            </a:r>
            <a:endParaRPr lang="en-US" sz="1050" dirty="0"/>
          </a:p>
        </p:txBody>
      </p:sp>
      <p:sp>
        <p:nvSpPr>
          <p:cNvPr id="6" name="Shape 4"/>
          <p:cNvSpPr/>
          <p:nvPr/>
        </p:nvSpPr>
        <p:spPr>
          <a:xfrm>
            <a:off x="594360" y="1325880"/>
            <a:ext cx="10607040" cy="438912"/>
          </a:xfrm>
          <a:prstGeom prst="rect">
            <a:avLst/>
          </a:prstGeom>
          <a:solidFill>
            <a:srgbClr val="1F3556"/>
          </a:solidFill>
          <a:ln w="12700">
            <a:solidFill>
              <a:srgbClr val="1F3556"/>
            </a:solidFill>
            <a:prstDash val="solid"/>
          </a:ln>
        </p:spPr>
        <p:txBody>
          <a:bodyPr/>
          <a:lstStyle/>
          <a:p>
            <a:endParaRPr lang="en-US"/>
          </a:p>
        </p:txBody>
      </p:sp>
      <p:sp>
        <p:nvSpPr>
          <p:cNvPr id="7" name="Text 5"/>
          <p:cNvSpPr/>
          <p:nvPr/>
        </p:nvSpPr>
        <p:spPr>
          <a:xfrm>
            <a:off x="630936" y="1435608"/>
            <a:ext cx="2578608" cy="27432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rPr>
              <a:t>Metric</a:t>
            </a:r>
            <a:endParaRPr lang="en-US" sz="900" dirty="0"/>
          </a:p>
        </p:txBody>
      </p:sp>
      <p:sp>
        <p:nvSpPr>
          <p:cNvPr id="8" name="Text 6"/>
          <p:cNvSpPr/>
          <p:nvPr/>
        </p:nvSpPr>
        <p:spPr>
          <a:xfrm>
            <a:off x="3282696" y="1435608"/>
            <a:ext cx="1847088" cy="27432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rPr>
              <a:t>1-year</a:t>
            </a:r>
            <a:endParaRPr lang="en-US" sz="900" dirty="0"/>
          </a:p>
        </p:txBody>
      </p:sp>
      <p:sp>
        <p:nvSpPr>
          <p:cNvPr id="9" name="Text 7"/>
          <p:cNvSpPr/>
          <p:nvPr/>
        </p:nvSpPr>
        <p:spPr>
          <a:xfrm>
            <a:off x="5202936" y="1435608"/>
            <a:ext cx="1847088" cy="27432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rPr>
              <a:t>2-year</a:t>
            </a:r>
            <a:endParaRPr lang="en-US" sz="900" dirty="0"/>
          </a:p>
        </p:txBody>
      </p:sp>
      <p:sp>
        <p:nvSpPr>
          <p:cNvPr id="10" name="Text 8"/>
          <p:cNvSpPr/>
          <p:nvPr/>
        </p:nvSpPr>
        <p:spPr>
          <a:xfrm>
            <a:off x="7123176" y="1435608"/>
            <a:ext cx="1847088" cy="27432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rPr>
              <a:t>Entire FU</a:t>
            </a:r>
            <a:endParaRPr lang="en-US" sz="900" dirty="0"/>
          </a:p>
        </p:txBody>
      </p:sp>
      <p:sp>
        <p:nvSpPr>
          <p:cNvPr id="11" name="Text 9"/>
          <p:cNvSpPr/>
          <p:nvPr/>
        </p:nvSpPr>
        <p:spPr>
          <a:xfrm>
            <a:off x="9043416" y="1435608"/>
            <a:ext cx="2121408" cy="27432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rPr>
              <a:t>Recent 5-year</a:t>
            </a:r>
            <a:endParaRPr lang="en-US" sz="900" dirty="0"/>
          </a:p>
        </p:txBody>
      </p:sp>
      <p:sp>
        <p:nvSpPr>
          <p:cNvPr id="12" name="Shape 10"/>
          <p:cNvSpPr/>
          <p:nvPr/>
        </p:nvSpPr>
        <p:spPr>
          <a:xfrm>
            <a:off x="594360" y="1764792"/>
            <a:ext cx="10607040" cy="438912"/>
          </a:xfrm>
          <a:prstGeom prst="rect">
            <a:avLst/>
          </a:prstGeom>
          <a:solidFill>
            <a:srgbClr val="F9FAFB"/>
          </a:solidFill>
          <a:ln w="5080">
            <a:solidFill>
              <a:srgbClr val="E5E7EB"/>
            </a:solidFill>
            <a:prstDash val="solid"/>
          </a:ln>
        </p:spPr>
        <p:txBody>
          <a:bodyPr/>
          <a:lstStyle/>
          <a:p>
            <a:endParaRPr lang="en-US"/>
          </a:p>
        </p:txBody>
      </p:sp>
      <p:sp>
        <p:nvSpPr>
          <p:cNvPr id="13" name="Text 11"/>
          <p:cNvSpPr/>
          <p:nvPr/>
        </p:nvSpPr>
        <p:spPr>
          <a:xfrm>
            <a:off x="649224" y="1865376"/>
            <a:ext cx="2542032" cy="292608"/>
          </a:xfrm>
          <a:prstGeom prst="rect">
            <a:avLst/>
          </a:prstGeom>
          <a:noFill/>
          <a:ln/>
        </p:spPr>
        <p:txBody>
          <a:bodyPr wrap="square" lIns="0" tIns="0" rIns="0" bIns="0" rtlCol="0" anchor="ctr">
            <a:normAutofit/>
          </a:bodyPr>
          <a:lstStyle/>
          <a:p>
            <a:pPr marL="0" indent="0" algn="l">
              <a:buNone/>
            </a:pPr>
            <a:r>
              <a:rPr lang="en-US" sz="900" b="1" dirty="0">
                <a:solidFill>
                  <a:srgbClr val="1F3556"/>
                </a:solidFill>
              </a:rPr>
              <a:t>Eligible patients</a:t>
            </a:r>
            <a:endParaRPr lang="en-US" sz="900" dirty="0"/>
          </a:p>
        </p:txBody>
      </p:sp>
      <p:sp>
        <p:nvSpPr>
          <p:cNvPr id="14" name="Text 12"/>
          <p:cNvSpPr/>
          <p:nvPr/>
        </p:nvSpPr>
        <p:spPr>
          <a:xfrm>
            <a:off x="3300984" y="1865376"/>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62,448</a:t>
            </a:r>
            <a:endParaRPr lang="en-US" sz="900" dirty="0"/>
          </a:p>
        </p:txBody>
      </p:sp>
      <p:sp>
        <p:nvSpPr>
          <p:cNvPr id="15" name="Text 13"/>
          <p:cNvSpPr/>
          <p:nvPr/>
        </p:nvSpPr>
        <p:spPr>
          <a:xfrm>
            <a:off x="5221224" y="1865376"/>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62,448</a:t>
            </a:r>
            <a:endParaRPr lang="en-US" sz="900" dirty="0"/>
          </a:p>
        </p:txBody>
      </p:sp>
      <p:sp>
        <p:nvSpPr>
          <p:cNvPr id="16" name="Text 14"/>
          <p:cNvSpPr/>
          <p:nvPr/>
        </p:nvSpPr>
        <p:spPr>
          <a:xfrm>
            <a:off x="7141464" y="1865376"/>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62,448</a:t>
            </a:r>
            <a:endParaRPr lang="en-US" sz="900" dirty="0"/>
          </a:p>
        </p:txBody>
      </p:sp>
      <p:sp>
        <p:nvSpPr>
          <p:cNvPr id="17" name="Text 15"/>
          <p:cNvSpPr/>
          <p:nvPr/>
        </p:nvSpPr>
        <p:spPr>
          <a:xfrm>
            <a:off x="9061704" y="1865376"/>
            <a:ext cx="208483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15,648</a:t>
            </a:r>
            <a:endParaRPr lang="en-US" sz="900" dirty="0"/>
          </a:p>
        </p:txBody>
      </p:sp>
      <p:sp>
        <p:nvSpPr>
          <p:cNvPr id="18" name="Shape 16"/>
          <p:cNvSpPr/>
          <p:nvPr/>
        </p:nvSpPr>
        <p:spPr>
          <a:xfrm>
            <a:off x="594360" y="2203704"/>
            <a:ext cx="10607040" cy="438912"/>
          </a:xfrm>
          <a:prstGeom prst="rect">
            <a:avLst/>
          </a:prstGeom>
          <a:solidFill>
            <a:srgbClr val="FFFFFF"/>
          </a:solidFill>
          <a:ln w="5080">
            <a:solidFill>
              <a:srgbClr val="E5E7EB"/>
            </a:solidFill>
            <a:prstDash val="solid"/>
          </a:ln>
        </p:spPr>
        <p:txBody>
          <a:bodyPr/>
          <a:lstStyle/>
          <a:p>
            <a:endParaRPr lang="en-US"/>
          </a:p>
        </p:txBody>
      </p:sp>
      <p:sp>
        <p:nvSpPr>
          <p:cNvPr id="19" name="Text 17"/>
          <p:cNvSpPr/>
          <p:nvPr/>
        </p:nvSpPr>
        <p:spPr>
          <a:xfrm>
            <a:off x="649224" y="2304288"/>
            <a:ext cx="2542032" cy="292608"/>
          </a:xfrm>
          <a:prstGeom prst="rect">
            <a:avLst/>
          </a:prstGeom>
          <a:noFill/>
          <a:ln/>
        </p:spPr>
        <p:txBody>
          <a:bodyPr wrap="square" lIns="0" tIns="0" rIns="0" bIns="0" rtlCol="0" anchor="ctr">
            <a:normAutofit/>
          </a:bodyPr>
          <a:lstStyle/>
          <a:p>
            <a:pPr marL="0" indent="0" algn="l">
              <a:buNone/>
            </a:pPr>
            <a:r>
              <a:rPr lang="en-US" sz="900" b="1" dirty="0">
                <a:solidFill>
                  <a:srgbClr val="1F3556"/>
                </a:solidFill>
              </a:rPr>
              <a:t>Single-class LOT2, any overlap</a:t>
            </a:r>
            <a:endParaRPr lang="en-US" sz="900" dirty="0"/>
          </a:p>
        </p:txBody>
      </p:sp>
      <p:sp>
        <p:nvSpPr>
          <p:cNvPr id="20" name="Text 18"/>
          <p:cNvSpPr/>
          <p:nvPr/>
        </p:nvSpPr>
        <p:spPr>
          <a:xfrm>
            <a:off x="3300984" y="2304288"/>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13,833 (22.2%)</a:t>
            </a:r>
            <a:endParaRPr lang="en-US" sz="900" dirty="0"/>
          </a:p>
        </p:txBody>
      </p:sp>
      <p:sp>
        <p:nvSpPr>
          <p:cNvPr id="21" name="Text 19"/>
          <p:cNvSpPr/>
          <p:nvPr/>
        </p:nvSpPr>
        <p:spPr>
          <a:xfrm>
            <a:off x="5221224" y="2304288"/>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19,986 (32.0%)</a:t>
            </a:r>
            <a:endParaRPr lang="en-US" sz="900" dirty="0"/>
          </a:p>
        </p:txBody>
      </p:sp>
      <p:sp>
        <p:nvSpPr>
          <p:cNvPr id="22" name="Text 20"/>
          <p:cNvSpPr/>
          <p:nvPr/>
        </p:nvSpPr>
        <p:spPr>
          <a:xfrm>
            <a:off x="7141464" y="2304288"/>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37,736 (60.4%)</a:t>
            </a:r>
            <a:endParaRPr lang="en-US" sz="900" dirty="0"/>
          </a:p>
        </p:txBody>
      </p:sp>
      <p:sp>
        <p:nvSpPr>
          <p:cNvPr id="23" name="Text 21"/>
          <p:cNvSpPr/>
          <p:nvPr/>
        </p:nvSpPr>
        <p:spPr>
          <a:xfrm>
            <a:off x="9061704" y="2304288"/>
            <a:ext cx="208483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5,786 (37.0%)</a:t>
            </a:r>
            <a:endParaRPr lang="en-US" sz="900" dirty="0"/>
          </a:p>
        </p:txBody>
      </p:sp>
      <p:sp>
        <p:nvSpPr>
          <p:cNvPr id="24" name="Shape 22"/>
          <p:cNvSpPr/>
          <p:nvPr/>
        </p:nvSpPr>
        <p:spPr>
          <a:xfrm>
            <a:off x="594360" y="2642616"/>
            <a:ext cx="10607040" cy="438912"/>
          </a:xfrm>
          <a:prstGeom prst="rect">
            <a:avLst/>
          </a:prstGeom>
          <a:solidFill>
            <a:srgbClr val="F9FAFB"/>
          </a:solidFill>
          <a:ln w="5080">
            <a:solidFill>
              <a:srgbClr val="E5E7EB"/>
            </a:solidFill>
            <a:prstDash val="solid"/>
          </a:ln>
        </p:spPr>
        <p:txBody>
          <a:bodyPr/>
          <a:lstStyle/>
          <a:p>
            <a:endParaRPr lang="en-US"/>
          </a:p>
        </p:txBody>
      </p:sp>
      <p:sp>
        <p:nvSpPr>
          <p:cNvPr id="25" name="Text 23"/>
          <p:cNvSpPr/>
          <p:nvPr/>
        </p:nvSpPr>
        <p:spPr>
          <a:xfrm>
            <a:off x="649224" y="2743200"/>
            <a:ext cx="2542032" cy="292608"/>
          </a:xfrm>
          <a:prstGeom prst="rect">
            <a:avLst/>
          </a:prstGeom>
          <a:noFill/>
          <a:ln/>
        </p:spPr>
        <p:txBody>
          <a:bodyPr wrap="square" lIns="0" tIns="0" rIns="0" bIns="0" rtlCol="0" anchor="ctr">
            <a:normAutofit/>
          </a:bodyPr>
          <a:lstStyle/>
          <a:p>
            <a:pPr marL="0" indent="0" algn="l">
              <a:buNone/>
            </a:pPr>
            <a:r>
              <a:rPr lang="en-US" sz="900" b="1" dirty="0">
                <a:solidFill>
                  <a:srgbClr val="1F3556"/>
                </a:solidFill>
              </a:rPr>
              <a:t>No overlap</a:t>
            </a:r>
            <a:endParaRPr lang="en-US" sz="900" dirty="0"/>
          </a:p>
        </p:txBody>
      </p:sp>
      <p:sp>
        <p:nvSpPr>
          <p:cNvPr id="26" name="Text 24"/>
          <p:cNvSpPr/>
          <p:nvPr/>
        </p:nvSpPr>
        <p:spPr>
          <a:xfrm>
            <a:off x="3300984" y="2743200"/>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5,621 (9.0%)</a:t>
            </a:r>
            <a:endParaRPr lang="en-US" sz="900" dirty="0"/>
          </a:p>
        </p:txBody>
      </p:sp>
      <p:sp>
        <p:nvSpPr>
          <p:cNvPr id="27" name="Text 25"/>
          <p:cNvSpPr/>
          <p:nvPr/>
        </p:nvSpPr>
        <p:spPr>
          <a:xfrm>
            <a:off x="5221224" y="2743200"/>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10,224 (16.4%)</a:t>
            </a:r>
            <a:endParaRPr lang="en-US" sz="900" dirty="0"/>
          </a:p>
        </p:txBody>
      </p:sp>
      <p:sp>
        <p:nvSpPr>
          <p:cNvPr id="28" name="Text 26"/>
          <p:cNvSpPr/>
          <p:nvPr/>
        </p:nvSpPr>
        <p:spPr>
          <a:xfrm>
            <a:off x="7141464" y="2743200"/>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25,929 (41.5%)</a:t>
            </a:r>
            <a:endParaRPr lang="en-US" sz="900" dirty="0"/>
          </a:p>
        </p:txBody>
      </p:sp>
      <p:sp>
        <p:nvSpPr>
          <p:cNvPr id="29" name="Text 27"/>
          <p:cNvSpPr/>
          <p:nvPr/>
        </p:nvSpPr>
        <p:spPr>
          <a:xfrm>
            <a:off x="9061704" y="2743200"/>
            <a:ext cx="208483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3,180 (20.3%)</a:t>
            </a:r>
            <a:endParaRPr lang="en-US" sz="900" dirty="0"/>
          </a:p>
        </p:txBody>
      </p:sp>
      <p:sp>
        <p:nvSpPr>
          <p:cNvPr id="30" name="Shape 28"/>
          <p:cNvSpPr/>
          <p:nvPr/>
        </p:nvSpPr>
        <p:spPr>
          <a:xfrm>
            <a:off x="594360" y="3081528"/>
            <a:ext cx="10607040" cy="438912"/>
          </a:xfrm>
          <a:prstGeom prst="rect">
            <a:avLst/>
          </a:prstGeom>
          <a:solidFill>
            <a:srgbClr val="FFFFFF"/>
          </a:solidFill>
          <a:ln w="5080">
            <a:solidFill>
              <a:srgbClr val="E5E7EB"/>
            </a:solidFill>
            <a:prstDash val="solid"/>
          </a:ln>
        </p:spPr>
        <p:txBody>
          <a:bodyPr/>
          <a:lstStyle/>
          <a:p>
            <a:endParaRPr lang="en-US"/>
          </a:p>
        </p:txBody>
      </p:sp>
      <p:sp>
        <p:nvSpPr>
          <p:cNvPr id="31" name="Text 29"/>
          <p:cNvSpPr/>
          <p:nvPr/>
        </p:nvSpPr>
        <p:spPr>
          <a:xfrm>
            <a:off x="649224" y="3182112"/>
            <a:ext cx="2542032" cy="292608"/>
          </a:xfrm>
          <a:prstGeom prst="rect">
            <a:avLst/>
          </a:prstGeom>
          <a:noFill/>
          <a:ln/>
        </p:spPr>
        <p:txBody>
          <a:bodyPr wrap="square" lIns="0" tIns="0" rIns="0" bIns="0" rtlCol="0" anchor="ctr">
            <a:normAutofit/>
          </a:bodyPr>
          <a:lstStyle/>
          <a:p>
            <a:pPr marL="0" indent="0" algn="l">
              <a:buNone/>
            </a:pPr>
            <a:r>
              <a:rPr lang="en-US" sz="900" b="1" dirty="0">
                <a:solidFill>
                  <a:srgbClr val="1F3556"/>
                </a:solidFill>
              </a:rPr>
              <a:t>Overlap &lt;90 days incl. no overlap</a:t>
            </a:r>
            <a:endParaRPr lang="en-US" sz="900" dirty="0"/>
          </a:p>
        </p:txBody>
      </p:sp>
      <p:sp>
        <p:nvSpPr>
          <p:cNvPr id="32" name="Text 30"/>
          <p:cNvSpPr/>
          <p:nvPr/>
        </p:nvSpPr>
        <p:spPr>
          <a:xfrm>
            <a:off x="3300984" y="3182112"/>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10,945 (17.5%)</a:t>
            </a:r>
            <a:endParaRPr lang="en-US" sz="900" dirty="0"/>
          </a:p>
        </p:txBody>
      </p:sp>
      <p:sp>
        <p:nvSpPr>
          <p:cNvPr id="33" name="Text 31"/>
          <p:cNvSpPr/>
          <p:nvPr/>
        </p:nvSpPr>
        <p:spPr>
          <a:xfrm>
            <a:off x="5221224" y="3182112"/>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16,391 (26.2%)</a:t>
            </a:r>
            <a:endParaRPr lang="en-US" sz="900" dirty="0"/>
          </a:p>
        </p:txBody>
      </p:sp>
      <p:sp>
        <p:nvSpPr>
          <p:cNvPr id="34" name="Text 32"/>
          <p:cNvSpPr/>
          <p:nvPr/>
        </p:nvSpPr>
        <p:spPr>
          <a:xfrm>
            <a:off x="7141464" y="3182112"/>
            <a:ext cx="1810512" cy="292608"/>
          </a:xfrm>
          <a:prstGeom prst="rect">
            <a:avLst/>
          </a:prstGeom>
          <a:noFill/>
          <a:ln/>
        </p:spPr>
        <p:txBody>
          <a:bodyPr wrap="square" lIns="0" tIns="0" rIns="0" bIns="0" rtlCol="0" anchor="ctr">
            <a:normAutofit/>
          </a:bodyPr>
          <a:lstStyle/>
          <a:p>
            <a:pPr marL="0" indent="0" algn="ctr">
              <a:buNone/>
            </a:pPr>
            <a:r>
              <a:rPr lang="en-US" sz="900" dirty="0">
                <a:solidFill>
                  <a:srgbClr val="374151"/>
                </a:solidFill>
              </a:rPr>
              <a:t>33,154 (53.1%)</a:t>
            </a:r>
            <a:endParaRPr lang="en-US" sz="900" dirty="0"/>
          </a:p>
        </p:txBody>
      </p:sp>
      <p:sp>
        <p:nvSpPr>
          <p:cNvPr id="35" name="Text 33"/>
          <p:cNvSpPr/>
          <p:nvPr/>
        </p:nvSpPr>
        <p:spPr>
          <a:xfrm>
            <a:off x="9061704" y="3182112"/>
            <a:ext cx="2084832" cy="292608"/>
          </a:xfrm>
          <a:prstGeom prst="rect">
            <a:avLst/>
          </a:prstGeom>
          <a:noFill/>
          <a:ln/>
        </p:spPr>
        <p:txBody>
          <a:bodyPr wrap="square" lIns="0" tIns="0" rIns="0" bIns="0" rtlCol="0" anchor="ctr">
            <a:normAutofit/>
          </a:bodyPr>
          <a:lstStyle/>
          <a:p>
            <a:pPr marL="0" indent="0" algn="ctr">
              <a:buNone/>
            </a:pPr>
            <a:r>
              <a:rPr lang="en-US" sz="900" dirty="0">
                <a:solidFill>
                  <a:srgbClr val="FF0000"/>
                </a:solidFill>
              </a:rPr>
              <a:t>4,932 (31.5%)</a:t>
            </a:r>
          </a:p>
        </p:txBody>
      </p:sp>
      <p:sp>
        <p:nvSpPr>
          <p:cNvPr id="36" name="Text 34"/>
          <p:cNvSpPr/>
          <p:nvPr/>
        </p:nvSpPr>
        <p:spPr>
          <a:xfrm>
            <a:off x="658368" y="3794760"/>
            <a:ext cx="10607040" cy="256032"/>
          </a:xfrm>
          <a:prstGeom prst="rect">
            <a:avLst/>
          </a:prstGeom>
          <a:noFill/>
          <a:ln/>
        </p:spPr>
        <p:txBody>
          <a:bodyPr wrap="square" lIns="0" tIns="0" rIns="0" bIns="0" rtlCol="0" anchor="ctr"/>
          <a:lstStyle/>
          <a:p>
            <a:pPr marL="0" indent="0">
              <a:buNone/>
            </a:pPr>
            <a:r>
              <a:rPr lang="en-US" sz="820" i="1" dirty="0">
                <a:solidFill>
                  <a:srgbClr val="6B7280"/>
                </a:solidFill>
              </a:rPr>
              <a:t>Recent 5-year values use the Oct. 1, 2023 cutoff cohort shown in Table 6 (N = 15,648).</a:t>
            </a:r>
            <a:endParaRPr lang="en-US" sz="820" dirty="0"/>
          </a:p>
        </p:txBody>
      </p:sp>
      <p:sp>
        <p:nvSpPr>
          <p:cNvPr id="37" name="Shape 35"/>
          <p:cNvSpPr/>
          <p:nvPr/>
        </p:nvSpPr>
        <p:spPr>
          <a:xfrm>
            <a:off x="914400" y="4572000"/>
            <a:ext cx="10378440" cy="749808"/>
          </a:xfrm>
          <a:prstGeom prst="roundRect">
            <a:avLst>
              <a:gd name="adj" fmla="val 9756"/>
            </a:avLst>
          </a:prstGeom>
          <a:solidFill>
            <a:srgbClr val="FFF6D6"/>
          </a:solidFill>
          <a:ln w="12700">
            <a:solidFill>
              <a:srgbClr val="F2C14E"/>
            </a:solidFill>
            <a:prstDash val="solid"/>
          </a:ln>
        </p:spPr>
        <p:txBody>
          <a:bodyPr/>
          <a:lstStyle/>
          <a:p>
            <a:endParaRPr lang="en-US"/>
          </a:p>
        </p:txBody>
      </p:sp>
      <p:sp>
        <p:nvSpPr>
          <p:cNvPr id="38" name="Text 36"/>
          <p:cNvSpPr/>
          <p:nvPr/>
        </p:nvSpPr>
        <p:spPr>
          <a:xfrm>
            <a:off x="1078992" y="4736592"/>
            <a:ext cx="10049256" cy="420624"/>
          </a:xfrm>
          <a:prstGeom prst="rect">
            <a:avLst/>
          </a:prstGeom>
          <a:noFill/>
          <a:ln/>
        </p:spPr>
        <p:txBody>
          <a:bodyPr wrap="square" lIns="381" tIns="381" rIns="381" bIns="381" rtlCol="0" anchor="ctr">
            <a:normAutofit/>
          </a:bodyPr>
          <a:lstStyle/>
          <a:p>
            <a:pPr marL="0" indent="0">
              <a:buNone/>
            </a:pPr>
            <a:r>
              <a:rPr lang="en-US" sz="1200" dirty="0">
                <a:solidFill>
                  <a:srgbClr val="1F3556"/>
                </a:solidFill>
              </a:rPr>
              <a:t>Interpretation: entire follow-up captures many more LOT2 events, but recent 5-year analyses are more aligned with the current CDRv8 data cutoff and contemporary prescribing patterns.</a:t>
            </a:r>
            <a:endParaRPr lang="en-US" sz="1200" dirty="0"/>
          </a:p>
        </p:txBody>
      </p:sp>
      <p:sp>
        <p:nvSpPr>
          <p:cNvPr id="39" name="Text 37"/>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10</a:t>
            </a:r>
            <a:endParaRPr lang="en-US" sz="750" dirty="0"/>
          </a:p>
        </p:txBody>
      </p:sp>
      <p:sp>
        <p:nvSpPr>
          <p:cNvPr id="40" name="Oval 39">
            <a:extLst>
              <a:ext uri="{FF2B5EF4-FFF2-40B4-BE49-F238E27FC236}">
                <a16:creationId xmlns:a16="http://schemas.microsoft.com/office/drawing/2014/main" id="{285DE56B-B932-D43B-B8D7-CA8B76147A65}"/>
              </a:ext>
            </a:extLst>
          </p:cNvPr>
          <p:cNvSpPr/>
          <p:nvPr/>
        </p:nvSpPr>
        <p:spPr>
          <a:xfrm>
            <a:off x="9283595" y="1145764"/>
            <a:ext cx="1584251" cy="25932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05" y="9144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305"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Table 7: SSRI-focused single LOT2 overlap analysis</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Because SSRI was the largest index class, the final deep dive focused on SSRI -&gt; single LOT2 transitions.</a:t>
            </a:r>
            <a:endParaRPr lang="en-US" sz="1050" dirty="0"/>
          </a:p>
        </p:txBody>
      </p:sp>
      <p:sp>
        <p:nvSpPr>
          <p:cNvPr id="6" name="Shape 4"/>
          <p:cNvSpPr/>
          <p:nvPr/>
        </p:nvSpPr>
        <p:spPr>
          <a:xfrm>
            <a:off x="502920" y="1417320"/>
            <a:ext cx="11155680" cy="438912"/>
          </a:xfrm>
          <a:prstGeom prst="rect">
            <a:avLst/>
          </a:prstGeom>
          <a:solidFill>
            <a:srgbClr val="1F3556"/>
          </a:solidFill>
          <a:ln w="12700">
            <a:solidFill>
              <a:srgbClr val="1F3556"/>
            </a:solidFill>
            <a:prstDash val="solid"/>
          </a:ln>
        </p:spPr>
        <p:txBody>
          <a:bodyPr/>
          <a:lstStyle/>
          <a:p>
            <a:endParaRPr lang="en-US"/>
          </a:p>
        </p:txBody>
      </p:sp>
      <p:sp>
        <p:nvSpPr>
          <p:cNvPr id="7" name="Text 5"/>
          <p:cNvSpPr/>
          <p:nvPr/>
        </p:nvSpPr>
        <p:spPr>
          <a:xfrm>
            <a:off x="539496" y="1527048"/>
            <a:ext cx="2212848" cy="274320"/>
          </a:xfrm>
          <a:prstGeom prst="rect">
            <a:avLst/>
          </a:prstGeom>
          <a:noFill/>
          <a:ln/>
        </p:spPr>
        <p:txBody>
          <a:bodyPr wrap="square" lIns="0" tIns="0" rIns="0" bIns="0" rtlCol="0" anchor="ctr">
            <a:normAutofit/>
          </a:bodyPr>
          <a:lstStyle/>
          <a:p>
            <a:pPr marL="0" indent="0" algn="ctr">
              <a:buNone/>
            </a:pPr>
            <a:r>
              <a:rPr lang="en-US" sz="860" b="1" dirty="0">
                <a:solidFill>
                  <a:srgbClr val="FFFFFF"/>
                </a:solidFill>
              </a:rPr>
              <a:t>SSRI -&gt; LOT2</a:t>
            </a:r>
            <a:endParaRPr lang="en-US" sz="860" dirty="0"/>
          </a:p>
        </p:txBody>
      </p:sp>
      <p:sp>
        <p:nvSpPr>
          <p:cNvPr id="8" name="Text 6"/>
          <p:cNvSpPr/>
          <p:nvPr/>
        </p:nvSpPr>
        <p:spPr>
          <a:xfrm>
            <a:off x="2825496" y="1527048"/>
            <a:ext cx="1572768" cy="274320"/>
          </a:xfrm>
          <a:prstGeom prst="rect">
            <a:avLst/>
          </a:prstGeom>
          <a:noFill/>
          <a:ln/>
        </p:spPr>
        <p:txBody>
          <a:bodyPr wrap="square" lIns="0" tIns="0" rIns="0" bIns="0" rtlCol="0" anchor="ctr">
            <a:normAutofit/>
          </a:bodyPr>
          <a:lstStyle/>
          <a:p>
            <a:pPr marL="0" indent="0" algn="ctr">
              <a:buNone/>
            </a:pPr>
            <a:r>
              <a:rPr lang="en-US" sz="860" b="1" dirty="0">
                <a:solidFill>
                  <a:srgbClr val="FFFFFF"/>
                </a:solidFill>
              </a:rPr>
              <a:t>Total patients</a:t>
            </a:r>
            <a:endParaRPr lang="en-US" sz="860" dirty="0"/>
          </a:p>
        </p:txBody>
      </p:sp>
      <p:sp>
        <p:nvSpPr>
          <p:cNvPr id="9" name="Text 7"/>
          <p:cNvSpPr/>
          <p:nvPr/>
        </p:nvSpPr>
        <p:spPr>
          <a:xfrm>
            <a:off x="4471416" y="1527048"/>
            <a:ext cx="1481328" cy="274320"/>
          </a:xfrm>
          <a:prstGeom prst="rect">
            <a:avLst/>
          </a:prstGeom>
          <a:noFill/>
          <a:ln/>
        </p:spPr>
        <p:txBody>
          <a:bodyPr wrap="square" lIns="0" tIns="0" rIns="0" bIns="0" rtlCol="0" anchor="ctr">
            <a:normAutofit/>
          </a:bodyPr>
          <a:lstStyle/>
          <a:p>
            <a:pPr marL="0" indent="0" algn="ctr">
              <a:buNone/>
            </a:pPr>
            <a:r>
              <a:rPr lang="en-US" sz="860" b="1" dirty="0">
                <a:solidFill>
                  <a:srgbClr val="FFFFFF"/>
                </a:solidFill>
              </a:rPr>
              <a:t>Overlap &gt;0</a:t>
            </a:r>
            <a:endParaRPr lang="en-US" sz="860" dirty="0"/>
          </a:p>
        </p:txBody>
      </p:sp>
      <p:sp>
        <p:nvSpPr>
          <p:cNvPr id="10" name="Text 8"/>
          <p:cNvSpPr/>
          <p:nvPr/>
        </p:nvSpPr>
        <p:spPr>
          <a:xfrm>
            <a:off x="6025896" y="1527048"/>
            <a:ext cx="1389888" cy="274320"/>
          </a:xfrm>
          <a:prstGeom prst="rect">
            <a:avLst/>
          </a:prstGeom>
          <a:noFill/>
          <a:ln/>
        </p:spPr>
        <p:txBody>
          <a:bodyPr wrap="square" lIns="0" tIns="0" rIns="0" bIns="0" rtlCol="0" anchor="ctr">
            <a:normAutofit/>
          </a:bodyPr>
          <a:lstStyle/>
          <a:p>
            <a:pPr marL="0" indent="0" algn="ctr">
              <a:buNone/>
            </a:pPr>
            <a:r>
              <a:rPr lang="en-US" sz="860" b="1" dirty="0">
                <a:solidFill>
                  <a:srgbClr val="FFFFFF"/>
                </a:solidFill>
              </a:rPr>
              <a:t>Mean overlap</a:t>
            </a:r>
            <a:endParaRPr lang="en-US" sz="860" dirty="0"/>
          </a:p>
        </p:txBody>
      </p:sp>
      <p:sp>
        <p:nvSpPr>
          <p:cNvPr id="11" name="Text 9"/>
          <p:cNvSpPr/>
          <p:nvPr/>
        </p:nvSpPr>
        <p:spPr>
          <a:xfrm>
            <a:off x="7488936" y="1527048"/>
            <a:ext cx="2212848" cy="274320"/>
          </a:xfrm>
          <a:prstGeom prst="rect">
            <a:avLst/>
          </a:prstGeom>
          <a:noFill/>
          <a:ln/>
        </p:spPr>
        <p:txBody>
          <a:bodyPr wrap="square" lIns="0" tIns="0" rIns="0" bIns="0" rtlCol="0" anchor="ctr">
            <a:normAutofit/>
          </a:bodyPr>
          <a:lstStyle/>
          <a:p>
            <a:pPr marL="0" indent="0" algn="ctr">
              <a:buNone/>
            </a:pPr>
            <a:r>
              <a:rPr lang="en-US" sz="860" b="1" dirty="0">
                <a:solidFill>
                  <a:srgbClr val="FFFFFF"/>
                </a:solidFill>
              </a:rPr>
              <a:t>Median [Q1, Q3]</a:t>
            </a:r>
            <a:endParaRPr lang="en-US" sz="860" dirty="0"/>
          </a:p>
        </p:txBody>
      </p:sp>
      <p:sp>
        <p:nvSpPr>
          <p:cNvPr id="12" name="Text 10"/>
          <p:cNvSpPr/>
          <p:nvPr/>
        </p:nvSpPr>
        <p:spPr>
          <a:xfrm>
            <a:off x="9774936" y="1527048"/>
            <a:ext cx="1847088" cy="274320"/>
          </a:xfrm>
          <a:prstGeom prst="rect">
            <a:avLst/>
          </a:prstGeom>
          <a:noFill/>
          <a:ln/>
        </p:spPr>
        <p:txBody>
          <a:bodyPr wrap="square" lIns="0" tIns="0" rIns="0" bIns="0" rtlCol="0" anchor="ctr">
            <a:normAutofit/>
          </a:bodyPr>
          <a:lstStyle/>
          <a:p>
            <a:pPr marL="0" indent="0" algn="ctr">
              <a:buNone/>
            </a:pPr>
            <a:r>
              <a:rPr lang="en-US" sz="860" b="1" dirty="0">
                <a:solidFill>
                  <a:srgbClr val="FFFFFF"/>
                </a:solidFill>
              </a:rPr>
              <a:t>P95 / P99</a:t>
            </a:r>
            <a:endParaRPr lang="en-US" sz="860" dirty="0"/>
          </a:p>
        </p:txBody>
      </p:sp>
      <p:sp>
        <p:nvSpPr>
          <p:cNvPr id="13" name="Shape 11"/>
          <p:cNvSpPr/>
          <p:nvPr/>
        </p:nvSpPr>
        <p:spPr>
          <a:xfrm>
            <a:off x="502920" y="1856232"/>
            <a:ext cx="11155680" cy="438912"/>
          </a:xfrm>
          <a:prstGeom prst="rect">
            <a:avLst/>
          </a:prstGeom>
          <a:solidFill>
            <a:srgbClr val="F9FAFB"/>
          </a:solidFill>
          <a:ln w="5080">
            <a:solidFill>
              <a:srgbClr val="E5E7EB"/>
            </a:solidFill>
            <a:prstDash val="solid"/>
          </a:ln>
        </p:spPr>
        <p:txBody>
          <a:bodyPr/>
          <a:lstStyle/>
          <a:p>
            <a:endParaRPr lang="en-US"/>
          </a:p>
        </p:txBody>
      </p:sp>
      <p:sp>
        <p:nvSpPr>
          <p:cNvPr id="14" name="Text 12"/>
          <p:cNvSpPr/>
          <p:nvPr/>
        </p:nvSpPr>
        <p:spPr>
          <a:xfrm>
            <a:off x="557784" y="1956816"/>
            <a:ext cx="2176272" cy="292608"/>
          </a:xfrm>
          <a:prstGeom prst="rect">
            <a:avLst/>
          </a:prstGeom>
          <a:noFill/>
          <a:ln/>
        </p:spPr>
        <p:txBody>
          <a:bodyPr wrap="square" lIns="0" tIns="0" rIns="0" bIns="0" rtlCol="0" anchor="ctr">
            <a:normAutofit/>
          </a:bodyPr>
          <a:lstStyle/>
          <a:p>
            <a:pPr marL="0" indent="0" algn="l">
              <a:buNone/>
            </a:pPr>
            <a:r>
              <a:rPr lang="en-US" sz="860" b="1" dirty="0">
                <a:solidFill>
                  <a:srgbClr val="1F3556"/>
                </a:solidFill>
              </a:rPr>
              <a:t>Atypical antidepressants</a:t>
            </a:r>
            <a:endParaRPr lang="en-US" sz="860" dirty="0"/>
          </a:p>
        </p:txBody>
      </p:sp>
      <p:sp>
        <p:nvSpPr>
          <p:cNvPr id="15" name="Text 13"/>
          <p:cNvSpPr/>
          <p:nvPr/>
        </p:nvSpPr>
        <p:spPr>
          <a:xfrm>
            <a:off x="2843784" y="1956816"/>
            <a:ext cx="1536192" cy="292608"/>
          </a:xfrm>
          <a:prstGeom prst="rect">
            <a:avLst/>
          </a:prstGeom>
          <a:noFill/>
          <a:ln/>
        </p:spPr>
        <p:txBody>
          <a:bodyPr wrap="square" lIns="0" tIns="0" rIns="0" bIns="0" rtlCol="0" anchor="ctr">
            <a:normAutofit/>
          </a:bodyPr>
          <a:lstStyle/>
          <a:p>
            <a:pPr marL="0" indent="0" algn="ctr">
              <a:buNone/>
            </a:pPr>
            <a:r>
              <a:rPr lang="en-US" sz="860" dirty="0">
                <a:solidFill>
                  <a:srgbClr val="FF0000"/>
                </a:solidFill>
              </a:rPr>
              <a:t>1,870 (11.95%)</a:t>
            </a:r>
          </a:p>
        </p:txBody>
      </p:sp>
      <p:sp>
        <p:nvSpPr>
          <p:cNvPr id="16" name="Text 14"/>
          <p:cNvSpPr/>
          <p:nvPr/>
        </p:nvSpPr>
        <p:spPr>
          <a:xfrm>
            <a:off x="4489704" y="1956816"/>
            <a:ext cx="144475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887 (47.43%)</a:t>
            </a:r>
            <a:endParaRPr lang="en-US" sz="860" dirty="0"/>
          </a:p>
        </p:txBody>
      </p:sp>
      <p:sp>
        <p:nvSpPr>
          <p:cNvPr id="17" name="Text 15"/>
          <p:cNvSpPr/>
          <p:nvPr/>
        </p:nvSpPr>
        <p:spPr>
          <a:xfrm>
            <a:off x="6044184" y="1956816"/>
            <a:ext cx="135331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160.61 d</a:t>
            </a:r>
            <a:endParaRPr lang="en-US" sz="860" dirty="0"/>
          </a:p>
        </p:txBody>
      </p:sp>
      <p:sp>
        <p:nvSpPr>
          <p:cNvPr id="18" name="Text 16"/>
          <p:cNvSpPr/>
          <p:nvPr/>
        </p:nvSpPr>
        <p:spPr>
          <a:xfrm>
            <a:off x="7507224" y="1956816"/>
            <a:ext cx="217627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51.0 [15.0, 204.0]</a:t>
            </a:r>
            <a:endParaRPr lang="en-US" sz="860" dirty="0"/>
          </a:p>
        </p:txBody>
      </p:sp>
      <p:sp>
        <p:nvSpPr>
          <p:cNvPr id="19" name="Text 17"/>
          <p:cNvSpPr/>
          <p:nvPr/>
        </p:nvSpPr>
        <p:spPr>
          <a:xfrm>
            <a:off x="9793224" y="1956816"/>
            <a:ext cx="181051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680.4 / 1,221.6</a:t>
            </a:r>
            <a:endParaRPr lang="en-US" sz="860" dirty="0"/>
          </a:p>
        </p:txBody>
      </p:sp>
      <p:sp>
        <p:nvSpPr>
          <p:cNvPr id="20" name="Shape 18"/>
          <p:cNvSpPr/>
          <p:nvPr/>
        </p:nvSpPr>
        <p:spPr>
          <a:xfrm>
            <a:off x="502920" y="2295144"/>
            <a:ext cx="11155680" cy="438912"/>
          </a:xfrm>
          <a:prstGeom prst="rect">
            <a:avLst/>
          </a:prstGeom>
          <a:solidFill>
            <a:srgbClr val="FFFFFF"/>
          </a:solidFill>
          <a:ln w="5080">
            <a:solidFill>
              <a:srgbClr val="E5E7EB"/>
            </a:solidFill>
            <a:prstDash val="solid"/>
          </a:ln>
        </p:spPr>
        <p:txBody>
          <a:bodyPr/>
          <a:lstStyle/>
          <a:p>
            <a:endParaRPr lang="en-US"/>
          </a:p>
        </p:txBody>
      </p:sp>
      <p:sp>
        <p:nvSpPr>
          <p:cNvPr id="21" name="Text 19"/>
          <p:cNvSpPr/>
          <p:nvPr/>
        </p:nvSpPr>
        <p:spPr>
          <a:xfrm>
            <a:off x="557784" y="2395728"/>
            <a:ext cx="2176272" cy="292608"/>
          </a:xfrm>
          <a:prstGeom prst="rect">
            <a:avLst/>
          </a:prstGeom>
          <a:noFill/>
          <a:ln/>
        </p:spPr>
        <p:txBody>
          <a:bodyPr wrap="square" lIns="0" tIns="0" rIns="0" bIns="0" rtlCol="0" anchor="ctr">
            <a:normAutofit/>
          </a:bodyPr>
          <a:lstStyle/>
          <a:p>
            <a:pPr marL="0" indent="0" algn="l">
              <a:buNone/>
            </a:pPr>
            <a:r>
              <a:rPr lang="en-US" sz="860" b="1" dirty="0">
                <a:solidFill>
                  <a:srgbClr val="1F3556"/>
                </a:solidFill>
              </a:rPr>
              <a:t>SNRI</a:t>
            </a:r>
            <a:endParaRPr lang="en-US" sz="860" dirty="0"/>
          </a:p>
        </p:txBody>
      </p:sp>
      <p:sp>
        <p:nvSpPr>
          <p:cNvPr id="22" name="Text 20"/>
          <p:cNvSpPr/>
          <p:nvPr/>
        </p:nvSpPr>
        <p:spPr>
          <a:xfrm>
            <a:off x="2843784" y="2395728"/>
            <a:ext cx="153619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627 (4.01%)</a:t>
            </a:r>
            <a:endParaRPr lang="en-US" sz="860" dirty="0"/>
          </a:p>
        </p:txBody>
      </p:sp>
      <p:sp>
        <p:nvSpPr>
          <p:cNvPr id="23" name="Text 21"/>
          <p:cNvSpPr/>
          <p:nvPr/>
        </p:nvSpPr>
        <p:spPr>
          <a:xfrm>
            <a:off x="4489704" y="2395728"/>
            <a:ext cx="144475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259 (41.31%)</a:t>
            </a:r>
            <a:endParaRPr lang="en-US" sz="860" dirty="0"/>
          </a:p>
        </p:txBody>
      </p:sp>
      <p:sp>
        <p:nvSpPr>
          <p:cNvPr id="24" name="Text 22"/>
          <p:cNvSpPr/>
          <p:nvPr/>
        </p:nvSpPr>
        <p:spPr>
          <a:xfrm>
            <a:off x="6044184" y="2395728"/>
            <a:ext cx="135331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40.45 d</a:t>
            </a:r>
            <a:endParaRPr lang="en-US" sz="860" dirty="0"/>
          </a:p>
        </p:txBody>
      </p:sp>
      <p:sp>
        <p:nvSpPr>
          <p:cNvPr id="25" name="Text 23"/>
          <p:cNvSpPr/>
          <p:nvPr/>
        </p:nvSpPr>
        <p:spPr>
          <a:xfrm>
            <a:off x="7507224" y="2395728"/>
            <a:ext cx="217627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6.0 [1.0, 31.0]</a:t>
            </a:r>
            <a:endParaRPr lang="en-US" sz="860" dirty="0"/>
          </a:p>
        </p:txBody>
      </p:sp>
      <p:sp>
        <p:nvSpPr>
          <p:cNvPr id="26" name="Text 24"/>
          <p:cNvSpPr/>
          <p:nvPr/>
        </p:nvSpPr>
        <p:spPr>
          <a:xfrm>
            <a:off x="9793224" y="2395728"/>
            <a:ext cx="181051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172.2 / 386.3</a:t>
            </a:r>
            <a:endParaRPr lang="en-US" sz="860" dirty="0"/>
          </a:p>
        </p:txBody>
      </p:sp>
      <p:sp>
        <p:nvSpPr>
          <p:cNvPr id="27" name="Shape 25"/>
          <p:cNvSpPr/>
          <p:nvPr/>
        </p:nvSpPr>
        <p:spPr>
          <a:xfrm>
            <a:off x="502920" y="2734056"/>
            <a:ext cx="11155680" cy="438912"/>
          </a:xfrm>
          <a:prstGeom prst="rect">
            <a:avLst/>
          </a:prstGeom>
          <a:solidFill>
            <a:srgbClr val="F9FAFB"/>
          </a:solidFill>
          <a:ln w="5080">
            <a:solidFill>
              <a:srgbClr val="E5E7EB"/>
            </a:solidFill>
            <a:prstDash val="solid"/>
          </a:ln>
        </p:spPr>
        <p:txBody>
          <a:bodyPr/>
          <a:lstStyle/>
          <a:p>
            <a:endParaRPr lang="en-US"/>
          </a:p>
        </p:txBody>
      </p:sp>
      <p:sp>
        <p:nvSpPr>
          <p:cNvPr id="28" name="Text 26"/>
          <p:cNvSpPr/>
          <p:nvPr/>
        </p:nvSpPr>
        <p:spPr>
          <a:xfrm>
            <a:off x="557784" y="2834640"/>
            <a:ext cx="2176272" cy="292608"/>
          </a:xfrm>
          <a:prstGeom prst="rect">
            <a:avLst/>
          </a:prstGeom>
          <a:noFill/>
          <a:ln/>
        </p:spPr>
        <p:txBody>
          <a:bodyPr wrap="square" lIns="0" tIns="0" rIns="0" bIns="0" rtlCol="0" anchor="ctr">
            <a:normAutofit/>
          </a:bodyPr>
          <a:lstStyle/>
          <a:p>
            <a:pPr marL="0" indent="0" algn="l">
              <a:buNone/>
            </a:pPr>
            <a:r>
              <a:rPr lang="en-US" sz="860" b="1" dirty="0">
                <a:solidFill>
                  <a:srgbClr val="1F3556"/>
                </a:solidFill>
              </a:rPr>
              <a:t>TCA</a:t>
            </a:r>
            <a:endParaRPr lang="en-US" sz="860" dirty="0"/>
          </a:p>
        </p:txBody>
      </p:sp>
      <p:sp>
        <p:nvSpPr>
          <p:cNvPr id="29" name="Text 27"/>
          <p:cNvSpPr/>
          <p:nvPr/>
        </p:nvSpPr>
        <p:spPr>
          <a:xfrm>
            <a:off x="2843784" y="2834640"/>
            <a:ext cx="153619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248 (1.58%)</a:t>
            </a:r>
            <a:endParaRPr lang="en-US" sz="860" dirty="0"/>
          </a:p>
        </p:txBody>
      </p:sp>
      <p:sp>
        <p:nvSpPr>
          <p:cNvPr id="30" name="Text 28"/>
          <p:cNvSpPr/>
          <p:nvPr/>
        </p:nvSpPr>
        <p:spPr>
          <a:xfrm>
            <a:off x="4489704" y="2834640"/>
            <a:ext cx="144475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102 (41.13%)</a:t>
            </a:r>
            <a:endParaRPr lang="en-US" sz="860" dirty="0"/>
          </a:p>
        </p:txBody>
      </p:sp>
      <p:sp>
        <p:nvSpPr>
          <p:cNvPr id="31" name="Text 29"/>
          <p:cNvSpPr/>
          <p:nvPr/>
        </p:nvSpPr>
        <p:spPr>
          <a:xfrm>
            <a:off x="6044184" y="2834640"/>
            <a:ext cx="135331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138.25 d</a:t>
            </a:r>
            <a:endParaRPr lang="en-US" sz="860" dirty="0"/>
          </a:p>
        </p:txBody>
      </p:sp>
      <p:sp>
        <p:nvSpPr>
          <p:cNvPr id="32" name="Text 30"/>
          <p:cNvSpPr/>
          <p:nvPr/>
        </p:nvSpPr>
        <p:spPr>
          <a:xfrm>
            <a:off x="7507224" y="2834640"/>
            <a:ext cx="217627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49.5 [15.0, 149.0]</a:t>
            </a:r>
            <a:endParaRPr lang="en-US" sz="860" dirty="0"/>
          </a:p>
        </p:txBody>
      </p:sp>
      <p:sp>
        <p:nvSpPr>
          <p:cNvPr id="33" name="Text 31"/>
          <p:cNvSpPr/>
          <p:nvPr/>
        </p:nvSpPr>
        <p:spPr>
          <a:xfrm>
            <a:off x="9793224" y="2834640"/>
            <a:ext cx="1810512" cy="292608"/>
          </a:xfrm>
          <a:prstGeom prst="rect">
            <a:avLst/>
          </a:prstGeom>
          <a:noFill/>
          <a:ln/>
        </p:spPr>
        <p:txBody>
          <a:bodyPr wrap="square" lIns="0" tIns="0" rIns="0" bIns="0" rtlCol="0" anchor="ctr">
            <a:normAutofit/>
          </a:bodyPr>
          <a:lstStyle/>
          <a:p>
            <a:pPr marL="0" indent="0" algn="ctr">
              <a:buNone/>
            </a:pPr>
            <a:r>
              <a:rPr lang="en-US" sz="860" dirty="0">
                <a:solidFill>
                  <a:srgbClr val="374151"/>
                </a:solidFill>
              </a:rPr>
              <a:t>602.4 / 867.7</a:t>
            </a:r>
            <a:endParaRPr lang="en-US" sz="860" dirty="0"/>
          </a:p>
        </p:txBody>
      </p:sp>
      <p:sp>
        <p:nvSpPr>
          <p:cNvPr id="34" name="Shape 32"/>
          <p:cNvSpPr/>
          <p:nvPr/>
        </p:nvSpPr>
        <p:spPr>
          <a:xfrm>
            <a:off x="630936" y="5734946"/>
            <a:ext cx="5321808" cy="830446"/>
          </a:xfrm>
          <a:prstGeom prst="roundRect">
            <a:avLst>
              <a:gd name="adj" fmla="val 7619"/>
            </a:avLst>
          </a:prstGeom>
          <a:solidFill>
            <a:srgbClr val="EAF3FA"/>
          </a:solidFill>
          <a:ln w="12700">
            <a:solidFill>
              <a:srgbClr val="4C78A8"/>
            </a:solidFill>
            <a:prstDash val="solid"/>
          </a:ln>
        </p:spPr>
        <p:txBody>
          <a:bodyPr/>
          <a:lstStyle/>
          <a:p>
            <a:endParaRPr lang="en-US"/>
          </a:p>
        </p:txBody>
      </p:sp>
      <p:sp>
        <p:nvSpPr>
          <p:cNvPr id="35" name="Text 33"/>
          <p:cNvSpPr/>
          <p:nvPr/>
        </p:nvSpPr>
        <p:spPr>
          <a:xfrm>
            <a:off x="816864" y="5842187"/>
            <a:ext cx="4974336" cy="630936"/>
          </a:xfrm>
          <a:prstGeom prst="rect">
            <a:avLst/>
          </a:prstGeom>
          <a:noFill/>
          <a:ln/>
        </p:spPr>
        <p:txBody>
          <a:bodyPr wrap="square" lIns="381" tIns="381" rIns="381" bIns="381" rtlCol="0" anchor="ctr">
            <a:normAutofit/>
          </a:bodyPr>
          <a:lstStyle/>
          <a:p>
            <a:pPr marL="0" indent="0">
              <a:buNone/>
            </a:pPr>
            <a:r>
              <a:rPr lang="en-US" sz="1200" dirty="0">
                <a:solidFill>
                  <a:srgbClr val="1F3556"/>
                </a:solidFill>
              </a:rPr>
              <a:t>Most common transition: SSRI -&gt; atypical antidepressants. Almost half had positive overlap, but the distribution was right-skewed: many short overlaps plus a long tail of prolonged overlap.</a:t>
            </a:r>
            <a:endParaRPr lang="en-US" sz="1200" dirty="0"/>
          </a:p>
        </p:txBody>
      </p:sp>
      <p:sp>
        <p:nvSpPr>
          <p:cNvPr id="36" name="Shape 34"/>
          <p:cNvSpPr/>
          <p:nvPr/>
        </p:nvSpPr>
        <p:spPr>
          <a:xfrm>
            <a:off x="6239258" y="5734946"/>
            <a:ext cx="5166360" cy="830446"/>
          </a:xfrm>
          <a:prstGeom prst="roundRect">
            <a:avLst>
              <a:gd name="adj" fmla="val 7619"/>
            </a:avLst>
          </a:prstGeom>
          <a:solidFill>
            <a:srgbClr val="E7F7F6"/>
          </a:solidFill>
          <a:ln w="12700">
            <a:solidFill>
              <a:srgbClr val="2CB7B0"/>
            </a:solidFill>
            <a:prstDash val="solid"/>
          </a:ln>
        </p:spPr>
        <p:txBody>
          <a:bodyPr/>
          <a:lstStyle/>
          <a:p>
            <a:endParaRPr lang="en-US"/>
          </a:p>
        </p:txBody>
      </p:sp>
      <p:sp>
        <p:nvSpPr>
          <p:cNvPr id="37" name="Text 35"/>
          <p:cNvSpPr/>
          <p:nvPr/>
        </p:nvSpPr>
        <p:spPr>
          <a:xfrm>
            <a:off x="6403850" y="5781772"/>
            <a:ext cx="4837176" cy="630936"/>
          </a:xfrm>
          <a:prstGeom prst="rect">
            <a:avLst/>
          </a:prstGeom>
          <a:noFill/>
          <a:ln/>
        </p:spPr>
        <p:txBody>
          <a:bodyPr wrap="square" lIns="381" tIns="381" rIns="381" bIns="381" rtlCol="0" anchor="ctr">
            <a:normAutofit/>
          </a:bodyPr>
          <a:lstStyle/>
          <a:p>
            <a:pPr marL="0" indent="0">
              <a:buNone/>
            </a:pPr>
            <a:r>
              <a:rPr lang="en-US" sz="1200" dirty="0">
                <a:solidFill>
                  <a:srgbClr val="1F3556"/>
                </a:solidFill>
              </a:rPr>
              <a:t>Important interpretation: a high first histogram bar is the mode, not the median. Median reflects cumulative 50%, so it can be much later even when the shortest bin is most frequent.</a:t>
            </a:r>
            <a:endParaRPr lang="en-US" sz="1200" dirty="0"/>
          </a:p>
        </p:txBody>
      </p:sp>
      <p:sp>
        <p:nvSpPr>
          <p:cNvPr id="38" name="Text 36"/>
          <p:cNvSpPr/>
          <p:nvPr/>
        </p:nvSpPr>
        <p:spPr>
          <a:xfrm>
            <a:off x="502920" y="3145536"/>
            <a:ext cx="10515600" cy="256032"/>
          </a:xfrm>
          <a:prstGeom prst="rect">
            <a:avLst/>
          </a:prstGeom>
          <a:noFill/>
          <a:ln/>
        </p:spPr>
        <p:txBody>
          <a:bodyPr wrap="square" lIns="0" tIns="0" rIns="0" bIns="0" rtlCol="0" anchor="ctr"/>
          <a:lstStyle/>
          <a:p>
            <a:pPr marL="0" indent="0">
              <a:buNone/>
            </a:pPr>
            <a:r>
              <a:rPr lang="en-US" sz="1020" i="1" dirty="0">
                <a:solidFill>
                  <a:srgbClr val="6B7280"/>
                </a:solidFill>
              </a:rPr>
              <a:t>Statistics shown here use overlap_days &gt; 0 only; no-overlap patients are counted separately.</a:t>
            </a:r>
            <a:endParaRPr lang="en-US" sz="1020" dirty="0"/>
          </a:p>
        </p:txBody>
      </p:sp>
      <p:sp>
        <p:nvSpPr>
          <p:cNvPr id="39" name="Text 37"/>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11</a:t>
            </a:r>
            <a:endParaRPr lang="en-US" sz="750" dirty="0"/>
          </a:p>
        </p:txBody>
      </p:sp>
      <p:pic>
        <p:nvPicPr>
          <p:cNvPr id="41" name="Picture 40">
            <a:extLst>
              <a:ext uri="{FF2B5EF4-FFF2-40B4-BE49-F238E27FC236}">
                <a16:creationId xmlns:a16="http://schemas.microsoft.com/office/drawing/2014/main" id="{19E73304-0D21-557B-E803-9646AD3C5936}"/>
              </a:ext>
            </a:extLst>
          </p:cNvPr>
          <p:cNvPicPr>
            <a:picLocks noChangeAspect="1"/>
          </p:cNvPicPr>
          <p:nvPr/>
        </p:nvPicPr>
        <p:blipFill>
          <a:blip r:embed="rId3"/>
          <a:stretch>
            <a:fillRect/>
          </a:stretch>
        </p:blipFill>
        <p:spPr>
          <a:xfrm>
            <a:off x="1874520" y="3353741"/>
            <a:ext cx="7772400" cy="22991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05" y="100584"/>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What the results suggest</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The project reveals both common patterns and long-tail behavior.</a:t>
            </a:r>
            <a:endParaRPr lang="en-US" sz="1050" dirty="0"/>
          </a:p>
        </p:txBody>
      </p:sp>
      <p:sp>
        <p:nvSpPr>
          <p:cNvPr id="6" name="Shape 4"/>
          <p:cNvSpPr/>
          <p:nvPr/>
        </p:nvSpPr>
        <p:spPr>
          <a:xfrm>
            <a:off x="777240" y="1234440"/>
            <a:ext cx="438912" cy="438912"/>
          </a:xfrm>
          <a:prstGeom prst="ellipse">
            <a:avLst/>
          </a:prstGeom>
          <a:solidFill>
            <a:srgbClr val="2CB7B0"/>
          </a:solidFill>
          <a:ln w="12700">
            <a:solidFill>
              <a:srgbClr val="2CB7B0"/>
            </a:solidFill>
            <a:prstDash val="solid"/>
          </a:ln>
        </p:spPr>
        <p:txBody>
          <a:bodyPr/>
          <a:lstStyle/>
          <a:p>
            <a:endParaRPr lang="en-US"/>
          </a:p>
        </p:txBody>
      </p:sp>
      <p:sp>
        <p:nvSpPr>
          <p:cNvPr id="7" name="Text 5"/>
          <p:cNvSpPr/>
          <p:nvPr/>
        </p:nvSpPr>
        <p:spPr>
          <a:xfrm>
            <a:off x="905256" y="1344168"/>
            <a:ext cx="182880"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8" name="Text 6"/>
          <p:cNvSpPr/>
          <p:nvPr/>
        </p:nvSpPr>
        <p:spPr>
          <a:xfrm>
            <a:off x="1417320" y="1252728"/>
            <a:ext cx="3840480" cy="219456"/>
          </a:xfrm>
          <a:prstGeom prst="rect">
            <a:avLst/>
          </a:prstGeom>
          <a:noFill/>
          <a:ln/>
        </p:spPr>
        <p:txBody>
          <a:bodyPr wrap="square" lIns="0" tIns="0" rIns="0" bIns="0" rtlCol="0" anchor="ctr"/>
          <a:lstStyle/>
          <a:p>
            <a:pPr marL="0" indent="0">
              <a:buNone/>
            </a:pPr>
            <a:r>
              <a:rPr lang="en-US" sz="1200" b="1" dirty="0">
                <a:solidFill>
                  <a:srgbClr val="1F3556"/>
                </a:solidFill>
              </a:rPr>
              <a:t>SSRI is the dominant starting class</a:t>
            </a:r>
            <a:endParaRPr lang="en-US" sz="1200" dirty="0"/>
          </a:p>
        </p:txBody>
      </p:sp>
      <p:sp>
        <p:nvSpPr>
          <p:cNvPr id="9" name="Text 7"/>
          <p:cNvSpPr/>
          <p:nvPr/>
        </p:nvSpPr>
        <p:spPr>
          <a:xfrm>
            <a:off x="1417320" y="1554480"/>
            <a:ext cx="9326880" cy="274320"/>
          </a:xfrm>
          <a:prstGeom prst="rect">
            <a:avLst/>
          </a:prstGeom>
          <a:noFill/>
          <a:ln/>
        </p:spPr>
        <p:txBody>
          <a:bodyPr wrap="square" lIns="0" tIns="0" rIns="0" bIns="0" rtlCol="0" anchor="ctr"/>
          <a:lstStyle/>
          <a:p>
            <a:pPr marL="0" indent="0">
              <a:buNone/>
            </a:pPr>
            <a:r>
              <a:rPr lang="en-US" sz="1060" dirty="0">
                <a:solidFill>
                  <a:srgbClr val="374151"/>
                </a:solidFill>
              </a:rPr>
              <a:t>Nearly half of the antidepressant cohort started with SSRI as the index class.</a:t>
            </a:r>
            <a:endParaRPr lang="en-US" sz="1060" dirty="0"/>
          </a:p>
        </p:txBody>
      </p:sp>
      <p:sp>
        <p:nvSpPr>
          <p:cNvPr id="10" name="Shape 8"/>
          <p:cNvSpPr/>
          <p:nvPr/>
        </p:nvSpPr>
        <p:spPr>
          <a:xfrm>
            <a:off x="777240" y="2258568"/>
            <a:ext cx="438912" cy="438912"/>
          </a:xfrm>
          <a:prstGeom prst="ellipse">
            <a:avLst/>
          </a:prstGeom>
          <a:solidFill>
            <a:srgbClr val="2CB7B0"/>
          </a:solidFill>
          <a:ln w="12700">
            <a:solidFill>
              <a:srgbClr val="2CB7B0"/>
            </a:solidFill>
            <a:prstDash val="solid"/>
          </a:ln>
        </p:spPr>
        <p:txBody>
          <a:bodyPr/>
          <a:lstStyle/>
          <a:p>
            <a:endParaRPr lang="en-US"/>
          </a:p>
        </p:txBody>
      </p:sp>
      <p:sp>
        <p:nvSpPr>
          <p:cNvPr id="11" name="Text 9"/>
          <p:cNvSpPr/>
          <p:nvPr/>
        </p:nvSpPr>
        <p:spPr>
          <a:xfrm>
            <a:off x="905256" y="2368296"/>
            <a:ext cx="182880"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2" name="Text 10"/>
          <p:cNvSpPr/>
          <p:nvPr/>
        </p:nvSpPr>
        <p:spPr>
          <a:xfrm>
            <a:off x="1417320" y="2276856"/>
            <a:ext cx="4363720" cy="228600"/>
          </a:xfrm>
          <a:prstGeom prst="rect">
            <a:avLst/>
          </a:prstGeom>
          <a:noFill/>
          <a:ln/>
        </p:spPr>
        <p:txBody>
          <a:bodyPr wrap="square" lIns="0" tIns="0" rIns="0" bIns="0" rtlCol="0" anchor="ctr"/>
          <a:lstStyle/>
          <a:p>
            <a:pPr marL="0" indent="0">
              <a:buNone/>
            </a:pPr>
            <a:r>
              <a:rPr lang="en-US" sz="1200" b="1" dirty="0">
                <a:solidFill>
                  <a:srgbClr val="1F3556"/>
                </a:solidFill>
              </a:rPr>
              <a:t>Many patients do not switch to LOT2 within short windows</a:t>
            </a:r>
            <a:endParaRPr lang="en-US" sz="1200" dirty="0"/>
          </a:p>
        </p:txBody>
      </p:sp>
      <p:sp>
        <p:nvSpPr>
          <p:cNvPr id="13" name="Text 11"/>
          <p:cNvSpPr/>
          <p:nvPr/>
        </p:nvSpPr>
        <p:spPr>
          <a:xfrm>
            <a:off x="1417320" y="2578608"/>
            <a:ext cx="9326880" cy="274320"/>
          </a:xfrm>
          <a:prstGeom prst="rect">
            <a:avLst/>
          </a:prstGeom>
          <a:noFill/>
          <a:ln/>
        </p:spPr>
        <p:txBody>
          <a:bodyPr wrap="square" lIns="0" tIns="0" rIns="0" bIns="0" rtlCol="0" anchor="ctr"/>
          <a:lstStyle/>
          <a:p>
            <a:pPr marL="0" indent="0">
              <a:buNone/>
            </a:pPr>
            <a:r>
              <a:rPr lang="en-US" sz="1060" dirty="0">
                <a:solidFill>
                  <a:srgbClr val="374151"/>
                </a:solidFill>
              </a:rPr>
              <a:t>Follow-up window choice changes how much switching we observe.</a:t>
            </a:r>
            <a:endParaRPr lang="en-US" sz="1060" dirty="0"/>
          </a:p>
        </p:txBody>
      </p:sp>
      <p:sp>
        <p:nvSpPr>
          <p:cNvPr id="14" name="Shape 12"/>
          <p:cNvSpPr/>
          <p:nvPr/>
        </p:nvSpPr>
        <p:spPr>
          <a:xfrm>
            <a:off x="777240" y="3282696"/>
            <a:ext cx="438912" cy="438912"/>
          </a:xfrm>
          <a:prstGeom prst="ellipse">
            <a:avLst/>
          </a:prstGeom>
          <a:solidFill>
            <a:srgbClr val="2CB7B0"/>
          </a:solidFill>
          <a:ln w="12700">
            <a:solidFill>
              <a:srgbClr val="2CB7B0"/>
            </a:solidFill>
            <a:prstDash val="solid"/>
          </a:ln>
        </p:spPr>
        <p:txBody>
          <a:bodyPr/>
          <a:lstStyle/>
          <a:p>
            <a:endParaRPr lang="en-US"/>
          </a:p>
        </p:txBody>
      </p:sp>
      <p:sp>
        <p:nvSpPr>
          <p:cNvPr id="15" name="Text 13"/>
          <p:cNvSpPr/>
          <p:nvPr/>
        </p:nvSpPr>
        <p:spPr>
          <a:xfrm>
            <a:off x="905256" y="3392424"/>
            <a:ext cx="182880"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6" name="Text 14"/>
          <p:cNvSpPr/>
          <p:nvPr/>
        </p:nvSpPr>
        <p:spPr>
          <a:xfrm>
            <a:off x="1417320" y="3300984"/>
            <a:ext cx="3840480" cy="219456"/>
          </a:xfrm>
          <a:prstGeom prst="rect">
            <a:avLst/>
          </a:prstGeom>
          <a:noFill/>
          <a:ln/>
        </p:spPr>
        <p:txBody>
          <a:bodyPr wrap="square" lIns="0" tIns="0" rIns="0" bIns="0" rtlCol="0" anchor="ctr"/>
          <a:lstStyle/>
          <a:p>
            <a:pPr marL="0" indent="0">
              <a:buNone/>
            </a:pPr>
            <a:r>
              <a:rPr lang="en-US" sz="1200" b="1" dirty="0">
                <a:solidFill>
                  <a:srgbClr val="1F3556"/>
                </a:solidFill>
              </a:rPr>
              <a:t>Overlap is heterogeneous</a:t>
            </a:r>
            <a:endParaRPr lang="en-US" sz="1200" dirty="0"/>
          </a:p>
        </p:txBody>
      </p:sp>
      <p:sp>
        <p:nvSpPr>
          <p:cNvPr id="17" name="Text 15"/>
          <p:cNvSpPr/>
          <p:nvPr/>
        </p:nvSpPr>
        <p:spPr>
          <a:xfrm>
            <a:off x="1417320" y="3602736"/>
            <a:ext cx="9326880" cy="274320"/>
          </a:xfrm>
          <a:prstGeom prst="rect">
            <a:avLst/>
          </a:prstGeom>
          <a:noFill/>
          <a:ln/>
        </p:spPr>
        <p:txBody>
          <a:bodyPr wrap="square" lIns="0" tIns="0" rIns="0" bIns="0" rtlCol="0" anchor="ctr"/>
          <a:lstStyle/>
          <a:p>
            <a:pPr marL="0" indent="0">
              <a:buNone/>
            </a:pPr>
            <a:r>
              <a:rPr lang="en-US" sz="1060" dirty="0">
                <a:solidFill>
                  <a:srgbClr val="374151"/>
                </a:solidFill>
              </a:rPr>
              <a:t>Some transitions have no overlap, while positive-overlap groups show long-tailed distributions.</a:t>
            </a:r>
            <a:endParaRPr lang="en-US" sz="1060" dirty="0"/>
          </a:p>
        </p:txBody>
      </p:sp>
      <p:sp>
        <p:nvSpPr>
          <p:cNvPr id="18" name="Shape 16"/>
          <p:cNvSpPr/>
          <p:nvPr/>
        </p:nvSpPr>
        <p:spPr>
          <a:xfrm>
            <a:off x="777240" y="4306824"/>
            <a:ext cx="438912" cy="438912"/>
          </a:xfrm>
          <a:prstGeom prst="ellipse">
            <a:avLst/>
          </a:prstGeom>
          <a:solidFill>
            <a:srgbClr val="2CB7B0"/>
          </a:solidFill>
          <a:ln w="12700">
            <a:solidFill>
              <a:srgbClr val="2CB7B0"/>
            </a:solidFill>
            <a:prstDash val="solid"/>
          </a:ln>
        </p:spPr>
        <p:txBody>
          <a:bodyPr/>
          <a:lstStyle/>
          <a:p>
            <a:endParaRPr lang="en-US"/>
          </a:p>
        </p:txBody>
      </p:sp>
      <p:sp>
        <p:nvSpPr>
          <p:cNvPr id="19" name="Text 17"/>
          <p:cNvSpPr/>
          <p:nvPr/>
        </p:nvSpPr>
        <p:spPr>
          <a:xfrm>
            <a:off x="905256" y="4416552"/>
            <a:ext cx="182880"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0" name="Text 18"/>
          <p:cNvSpPr/>
          <p:nvPr/>
        </p:nvSpPr>
        <p:spPr>
          <a:xfrm>
            <a:off x="1417320" y="4325112"/>
            <a:ext cx="3840480" cy="219456"/>
          </a:xfrm>
          <a:prstGeom prst="rect">
            <a:avLst/>
          </a:prstGeom>
          <a:noFill/>
          <a:ln/>
        </p:spPr>
        <p:txBody>
          <a:bodyPr wrap="square" lIns="0" tIns="0" rIns="0" bIns="0" rtlCol="0" anchor="ctr"/>
          <a:lstStyle/>
          <a:p>
            <a:pPr marL="0" indent="0">
              <a:buNone/>
            </a:pPr>
            <a:r>
              <a:rPr lang="en-US" sz="1200" b="1" dirty="0">
                <a:solidFill>
                  <a:srgbClr val="1F3556"/>
                </a:solidFill>
              </a:rPr>
              <a:t>SSRI -&gt; atypical antidepressants deserves attention</a:t>
            </a:r>
            <a:endParaRPr lang="en-US" sz="1200" dirty="0"/>
          </a:p>
        </p:txBody>
      </p:sp>
      <p:sp>
        <p:nvSpPr>
          <p:cNvPr id="21" name="Text 19"/>
          <p:cNvSpPr/>
          <p:nvPr/>
        </p:nvSpPr>
        <p:spPr>
          <a:xfrm>
            <a:off x="1417320" y="4608576"/>
            <a:ext cx="9326880" cy="603504"/>
          </a:xfrm>
          <a:prstGeom prst="rect">
            <a:avLst/>
          </a:prstGeom>
          <a:noFill/>
          <a:ln/>
        </p:spPr>
        <p:txBody>
          <a:bodyPr wrap="square" lIns="0" tIns="0" rIns="0" bIns="0" rtlCol="0" anchor="ctr"/>
          <a:lstStyle/>
          <a:p>
            <a:r>
              <a:rPr lang="en-US" sz="1060" dirty="0">
                <a:solidFill>
                  <a:srgbClr val="374151"/>
                </a:solidFill>
              </a:rPr>
              <a:t>This was the largest SSRI single LOT2 transition and showed substantial positive overlap, making it a useful subgroup for future treatment-sequencing, patient segmentation, or market-access exploration.</a:t>
            </a:r>
            <a:endParaRPr lang="en-US" sz="1060" dirty="0"/>
          </a:p>
        </p:txBody>
      </p:sp>
      <p:sp>
        <p:nvSpPr>
          <p:cNvPr id="22" name="Shape 20"/>
          <p:cNvSpPr/>
          <p:nvPr/>
        </p:nvSpPr>
        <p:spPr>
          <a:xfrm>
            <a:off x="1005840" y="5623560"/>
            <a:ext cx="10149840" cy="685800"/>
          </a:xfrm>
          <a:prstGeom prst="roundRect">
            <a:avLst>
              <a:gd name="adj" fmla="val 10667"/>
            </a:avLst>
          </a:prstGeom>
          <a:solidFill>
            <a:srgbClr val="FFF6D6"/>
          </a:solidFill>
          <a:ln w="12700">
            <a:solidFill>
              <a:srgbClr val="F2C14E"/>
            </a:solidFill>
            <a:prstDash val="solid"/>
          </a:ln>
        </p:spPr>
        <p:txBody>
          <a:bodyPr/>
          <a:lstStyle/>
          <a:p>
            <a:endParaRPr lang="en-US"/>
          </a:p>
        </p:txBody>
      </p:sp>
      <p:sp>
        <p:nvSpPr>
          <p:cNvPr id="23" name="Text 21"/>
          <p:cNvSpPr/>
          <p:nvPr/>
        </p:nvSpPr>
        <p:spPr>
          <a:xfrm>
            <a:off x="1170432" y="5788152"/>
            <a:ext cx="9820656" cy="356616"/>
          </a:xfrm>
          <a:prstGeom prst="rect">
            <a:avLst/>
          </a:prstGeom>
          <a:noFill/>
          <a:ln/>
        </p:spPr>
        <p:txBody>
          <a:bodyPr wrap="square" lIns="381" tIns="381" rIns="381" bIns="381" rtlCol="0" anchor="ctr">
            <a:normAutofit lnSpcReduction="10000"/>
          </a:bodyPr>
          <a:lstStyle/>
          <a:p>
            <a:pPr marL="0" indent="0">
              <a:buNone/>
            </a:pPr>
            <a:r>
              <a:rPr lang="en-US" sz="1200" dirty="0">
                <a:solidFill>
                  <a:srgbClr val="1F3556"/>
                </a:solidFill>
              </a:rPr>
              <a:t>this workflow can identify where patients move after initial treatment, quantify transition timing, and support evidence generation for treatment sequencing, safety monitoring, or market-access narratives.</a:t>
            </a:r>
            <a:endParaRPr lang="en-US" sz="1200" dirty="0"/>
          </a:p>
        </p:txBody>
      </p:sp>
      <p:sp>
        <p:nvSpPr>
          <p:cNvPr id="24" name="Text 22"/>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Technical challenges and how they were solved</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The project required several choices that affect interpretation.</a:t>
            </a:r>
            <a:endParaRPr lang="en-US" sz="1050" dirty="0"/>
          </a:p>
        </p:txBody>
      </p:sp>
      <p:sp>
        <p:nvSpPr>
          <p:cNvPr id="6" name="Shape 4"/>
          <p:cNvSpPr/>
          <p:nvPr/>
        </p:nvSpPr>
        <p:spPr>
          <a:xfrm>
            <a:off x="502920" y="1115568"/>
            <a:ext cx="11201400" cy="530352"/>
          </a:xfrm>
          <a:prstGeom prst="rect">
            <a:avLst/>
          </a:prstGeom>
          <a:solidFill>
            <a:srgbClr val="1F3556"/>
          </a:solidFill>
          <a:ln w="12700">
            <a:solidFill>
              <a:srgbClr val="1F3556"/>
            </a:solidFill>
            <a:prstDash val="solid"/>
          </a:ln>
        </p:spPr>
        <p:txBody>
          <a:bodyPr/>
          <a:lstStyle/>
          <a:p>
            <a:endParaRPr lang="en-US"/>
          </a:p>
        </p:txBody>
      </p:sp>
      <p:sp>
        <p:nvSpPr>
          <p:cNvPr id="7" name="Text 5"/>
          <p:cNvSpPr/>
          <p:nvPr/>
        </p:nvSpPr>
        <p:spPr>
          <a:xfrm>
            <a:off x="539496" y="1225296"/>
            <a:ext cx="2075688" cy="365760"/>
          </a:xfrm>
          <a:prstGeom prst="rect">
            <a:avLst/>
          </a:prstGeom>
          <a:noFill/>
          <a:ln/>
        </p:spPr>
        <p:txBody>
          <a:bodyPr wrap="square" lIns="0" tIns="0" rIns="0" bIns="0" rtlCol="0" anchor="ctr">
            <a:normAutofit/>
          </a:bodyPr>
          <a:lstStyle/>
          <a:p>
            <a:pPr marL="0" indent="0" algn="ctr">
              <a:buNone/>
            </a:pPr>
            <a:r>
              <a:rPr lang="en-US" sz="810" b="1" dirty="0">
                <a:solidFill>
                  <a:srgbClr val="FFFFFF"/>
                </a:solidFill>
              </a:rPr>
              <a:t>Challenge</a:t>
            </a:r>
            <a:endParaRPr lang="en-US" sz="810" dirty="0"/>
          </a:p>
        </p:txBody>
      </p:sp>
      <p:sp>
        <p:nvSpPr>
          <p:cNvPr id="8" name="Text 6"/>
          <p:cNvSpPr/>
          <p:nvPr/>
        </p:nvSpPr>
        <p:spPr>
          <a:xfrm>
            <a:off x="2688336" y="1225296"/>
            <a:ext cx="3721608" cy="365760"/>
          </a:xfrm>
          <a:prstGeom prst="rect">
            <a:avLst/>
          </a:prstGeom>
          <a:noFill/>
          <a:ln/>
        </p:spPr>
        <p:txBody>
          <a:bodyPr wrap="square" lIns="0" tIns="0" rIns="0" bIns="0" rtlCol="0" anchor="ctr">
            <a:normAutofit/>
          </a:bodyPr>
          <a:lstStyle/>
          <a:p>
            <a:pPr marL="0" indent="0" algn="ctr">
              <a:buNone/>
            </a:pPr>
            <a:r>
              <a:rPr lang="en-US" sz="810" b="1" dirty="0">
                <a:solidFill>
                  <a:srgbClr val="FFFFFF"/>
                </a:solidFill>
              </a:rPr>
              <a:t>Why it mattered</a:t>
            </a:r>
            <a:endParaRPr lang="en-US" sz="810" dirty="0"/>
          </a:p>
        </p:txBody>
      </p:sp>
      <p:sp>
        <p:nvSpPr>
          <p:cNvPr id="9" name="Text 7"/>
          <p:cNvSpPr/>
          <p:nvPr/>
        </p:nvSpPr>
        <p:spPr>
          <a:xfrm>
            <a:off x="6483096" y="1225296"/>
            <a:ext cx="5184648" cy="365760"/>
          </a:xfrm>
          <a:prstGeom prst="rect">
            <a:avLst/>
          </a:prstGeom>
          <a:noFill/>
          <a:ln/>
        </p:spPr>
        <p:txBody>
          <a:bodyPr wrap="square" lIns="0" tIns="0" rIns="0" bIns="0" rtlCol="0" anchor="ctr">
            <a:normAutofit/>
          </a:bodyPr>
          <a:lstStyle/>
          <a:p>
            <a:pPr marL="0" indent="0" algn="ctr">
              <a:buNone/>
            </a:pPr>
            <a:r>
              <a:rPr lang="en-US" sz="810" b="1" dirty="0">
                <a:solidFill>
                  <a:srgbClr val="FFFFFF"/>
                </a:solidFill>
              </a:rPr>
              <a:t>Solution</a:t>
            </a:r>
            <a:endParaRPr lang="en-US" sz="810" dirty="0"/>
          </a:p>
        </p:txBody>
      </p:sp>
      <p:sp>
        <p:nvSpPr>
          <p:cNvPr id="10" name="Shape 8"/>
          <p:cNvSpPr/>
          <p:nvPr/>
        </p:nvSpPr>
        <p:spPr>
          <a:xfrm>
            <a:off x="502920" y="1645920"/>
            <a:ext cx="11201400" cy="530352"/>
          </a:xfrm>
          <a:prstGeom prst="rect">
            <a:avLst/>
          </a:prstGeom>
          <a:solidFill>
            <a:srgbClr val="F9FAFB"/>
          </a:solidFill>
          <a:ln w="5080">
            <a:solidFill>
              <a:srgbClr val="E5E7EB"/>
            </a:solidFill>
            <a:prstDash val="solid"/>
          </a:ln>
        </p:spPr>
        <p:txBody>
          <a:bodyPr/>
          <a:lstStyle/>
          <a:p>
            <a:endParaRPr lang="en-US"/>
          </a:p>
        </p:txBody>
      </p:sp>
      <p:sp>
        <p:nvSpPr>
          <p:cNvPr id="11" name="Text 9"/>
          <p:cNvSpPr/>
          <p:nvPr/>
        </p:nvSpPr>
        <p:spPr>
          <a:xfrm>
            <a:off x="557784" y="1746504"/>
            <a:ext cx="2039112" cy="384048"/>
          </a:xfrm>
          <a:prstGeom prst="rect">
            <a:avLst/>
          </a:prstGeom>
          <a:noFill/>
          <a:ln/>
        </p:spPr>
        <p:txBody>
          <a:bodyPr wrap="square" lIns="0" tIns="0" rIns="0" bIns="0" rtlCol="0" anchor="ctr">
            <a:normAutofit/>
          </a:bodyPr>
          <a:lstStyle/>
          <a:p>
            <a:pPr marL="0" indent="0" algn="l">
              <a:buNone/>
            </a:pPr>
            <a:r>
              <a:rPr lang="en-US" sz="810" b="1" dirty="0">
                <a:solidFill>
                  <a:srgbClr val="1F3556"/>
                </a:solidFill>
              </a:rPr>
              <a:t>Medication mapping</a:t>
            </a:r>
            <a:endParaRPr lang="en-US" sz="810" dirty="0"/>
          </a:p>
        </p:txBody>
      </p:sp>
      <p:sp>
        <p:nvSpPr>
          <p:cNvPr id="12" name="Text 10"/>
          <p:cNvSpPr/>
          <p:nvPr/>
        </p:nvSpPr>
        <p:spPr>
          <a:xfrm>
            <a:off x="2706624" y="1746504"/>
            <a:ext cx="368503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Generic names, combination products, RxNorm concepts</a:t>
            </a:r>
            <a:endParaRPr lang="en-US" sz="810" dirty="0"/>
          </a:p>
        </p:txBody>
      </p:sp>
      <p:sp>
        <p:nvSpPr>
          <p:cNvPr id="13" name="Text 11"/>
          <p:cNvSpPr/>
          <p:nvPr/>
        </p:nvSpPr>
        <p:spPr>
          <a:xfrm>
            <a:off x="6501384" y="1746504"/>
            <a:ext cx="514807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Built drug-class dictionaries and multi-ingredient handling</a:t>
            </a:r>
            <a:endParaRPr lang="en-US" sz="810" dirty="0"/>
          </a:p>
        </p:txBody>
      </p:sp>
      <p:sp>
        <p:nvSpPr>
          <p:cNvPr id="14" name="Shape 12"/>
          <p:cNvSpPr/>
          <p:nvPr/>
        </p:nvSpPr>
        <p:spPr>
          <a:xfrm>
            <a:off x="502920" y="2176272"/>
            <a:ext cx="11201400" cy="530352"/>
          </a:xfrm>
          <a:prstGeom prst="rect">
            <a:avLst/>
          </a:prstGeom>
          <a:solidFill>
            <a:srgbClr val="FFFFFF"/>
          </a:solidFill>
          <a:ln w="5080">
            <a:solidFill>
              <a:srgbClr val="E5E7EB"/>
            </a:solidFill>
            <a:prstDash val="solid"/>
          </a:ln>
        </p:spPr>
        <p:txBody>
          <a:bodyPr/>
          <a:lstStyle/>
          <a:p>
            <a:endParaRPr lang="en-US"/>
          </a:p>
        </p:txBody>
      </p:sp>
      <p:sp>
        <p:nvSpPr>
          <p:cNvPr id="15" name="Text 13"/>
          <p:cNvSpPr/>
          <p:nvPr/>
        </p:nvSpPr>
        <p:spPr>
          <a:xfrm>
            <a:off x="557784" y="2276856"/>
            <a:ext cx="2039112" cy="384048"/>
          </a:xfrm>
          <a:prstGeom prst="rect">
            <a:avLst/>
          </a:prstGeom>
          <a:noFill/>
          <a:ln/>
        </p:spPr>
        <p:txBody>
          <a:bodyPr wrap="square" lIns="0" tIns="0" rIns="0" bIns="0" rtlCol="0" anchor="ctr">
            <a:normAutofit/>
          </a:bodyPr>
          <a:lstStyle/>
          <a:p>
            <a:pPr marL="0" indent="0" algn="l">
              <a:buNone/>
            </a:pPr>
            <a:r>
              <a:rPr lang="en-US" sz="810" b="1" dirty="0">
                <a:solidFill>
                  <a:srgbClr val="1F3556"/>
                </a:solidFill>
              </a:rPr>
              <a:t>Ambiguous index starts</a:t>
            </a:r>
            <a:endParaRPr lang="en-US" sz="810" dirty="0"/>
          </a:p>
        </p:txBody>
      </p:sp>
      <p:sp>
        <p:nvSpPr>
          <p:cNvPr id="16" name="Text 14"/>
          <p:cNvSpPr/>
          <p:nvPr/>
        </p:nvSpPr>
        <p:spPr>
          <a:xfrm>
            <a:off x="2706624" y="2276856"/>
            <a:ext cx="368503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Some patients had multiple classes on index date</a:t>
            </a:r>
            <a:endParaRPr lang="en-US" sz="810" dirty="0"/>
          </a:p>
        </p:txBody>
      </p:sp>
      <p:sp>
        <p:nvSpPr>
          <p:cNvPr id="17" name="Text 15"/>
          <p:cNvSpPr/>
          <p:nvPr/>
        </p:nvSpPr>
        <p:spPr>
          <a:xfrm>
            <a:off x="6501384" y="2276856"/>
            <a:ext cx="514807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Created mono-class index cohort for clean LOT analysis</a:t>
            </a:r>
            <a:endParaRPr lang="en-US" sz="810" dirty="0"/>
          </a:p>
        </p:txBody>
      </p:sp>
      <p:sp>
        <p:nvSpPr>
          <p:cNvPr id="18" name="Shape 16"/>
          <p:cNvSpPr/>
          <p:nvPr/>
        </p:nvSpPr>
        <p:spPr>
          <a:xfrm>
            <a:off x="502920" y="2706624"/>
            <a:ext cx="11201400" cy="530352"/>
          </a:xfrm>
          <a:prstGeom prst="rect">
            <a:avLst/>
          </a:prstGeom>
          <a:solidFill>
            <a:srgbClr val="F9FAFB"/>
          </a:solidFill>
          <a:ln w="5080">
            <a:solidFill>
              <a:srgbClr val="E5E7EB"/>
            </a:solidFill>
            <a:prstDash val="solid"/>
          </a:ln>
        </p:spPr>
        <p:txBody>
          <a:bodyPr/>
          <a:lstStyle/>
          <a:p>
            <a:endParaRPr lang="en-US"/>
          </a:p>
        </p:txBody>
      </p:sp>
      <p:sp>
        <p:nvSpPr>
          <p:cNvPr id="19" name="Text 17"/>
          <p:cNvSpPr/>
          <p:nvPr/>
        </p:nvSpPr>
        <p:spPr>
          <a:xfrm>
            <a:off x="557784" y="2807208"/>
            <a:ext cx="2039112" cy="384048"/>
          </a:xfrm>
          <a:prstGeom prst="rect">
            <a:avLst/>
          </a:prstGeom>
          <a:noFill/>
          <a:ln/>
        </p:spPr>
        <p:txBody>
          <a:bodyPr wrap="square" lIns="0" tIns="0" rIns="0" bIns="0" rtlCol="0" anchor="ctr">
            <a:normAutofit/>
          </a:bodyPr>
          <a:lstStyle/>
          <a:p>
            <a:pPr marL="0" indent="0" algn="l">
              <a:buNone/>
            </a:pPr>
            <a:r>
              <a:rPr lang="en-US" sz="810" b="1" dirty="0">
                <a:solidFill>
                  <a:srgbClr val="1F3556"/>
                </a:solidFill>
              </a:rPr>
              <a:t>Episode end dates</a:t>
            </a:r>
            <a:endParaRPr lang="en-US" sz="810" dirty="0"/>
          </a:p>
        </p:txBody>
      </p:sp>
      <p:sp>
        <p:nvSpPr>
          <p:cNvPr id="20" name="Text 18"/>
          <p:cNvSpPr/>
          <p:nvPr/>
        </p:nvSpPr>
        <p:spPr>
          <a:xfrm>
            <a:off x="2706624" y="2807208"/>
            <a:ext cx="368503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Missing or inconsistent drug end dates</a:t>
            </a:r>
            <a:endParaRPr lang="en-US" sz="810" dirty="0"/>
          </a:p>
        </p:txBody>
      </p:sp>
      <p:sp>
        <p:nvSpPr>
          <p:cNvPr id="21" name="Text 19"/>
          <p:cNvSpPr/>
          <p:nvPr/>
        </p:nvSpPr>
        <p:spPr>
          <a:xfrm>
            <a:off x="6501384" y="2807208"/>
            <a:ext cx="514807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Applied end-date QC and imputation before episode construction</a:t>
            </a:r>
            <a:endParaRPr lang="en-US" sz="810" dirty="0"/>
          </a:p>
        </p:txBody>
      </p:sp>
      <p:sp>
        <p:nvSpPr>
          <p:cNvPr id="22" name="Shape 20"/>
          <p:cNvSpPr/>
          <p:nvPr/>
        </p:nvSpPr>
        <p:spPr>
          <a:xfrm>
            <a:off x="502920" y="3236976"/>
            <a:ext cx="11201400" cy="530352"/>
          </a:xfrm>
          <a:prstGeom prst="rect">
            <a:avLst/>
          </a:prstGeom>
          <a:solidFill>
            <a:srgbClr val="FFFFFF"/>
          </a:solidFill>
          <a:ln w="5080">
            <a:solidFill>
              <a:srgbClr val="E5E7EB"/>
            </a:solidFill>
            <a:prstDash val="solid"/>
          </a:ln>
        </p:spPr>
        <p:txBody>
          <a:bodyPr/>
          <a:lstStyle/>
          <a:p>
            <a:endParaRPr lang="en-US"/>
          </a:p>
        </p:txBody>
      </p:sp>
      <p:sp>
        <p:nvSpPr>
          <p:cNvPr id="23" name="Text 21"/>
          <p:cNvSpPr/>
          <p:nvPr/>
        </p:nvSpPr>
        <p:spPr>
          <a:xfrm>
            <a:off x="557784" y="3337560"/>
            <a:ext cx="2039112" cy="384048"/>
          </a:xfrm>
          <a:prstGeom prst="rect">
            <a:avLst/>
          </a:prstGeom>
          <a:noFill/>
          <a:ln/>
        </p:spPr>
        <p:txBody>
          <a:bodyPr wrap="square" lIns="0" tIns="0" rIns="0" bIns="0" rtlCol="0" anchor="ctr">
            <a:normAutofit/>
          </a:bodyPr>
          <a:lstStyle/>
          <a:p>
            <a:pPr marL="0" indent="0" algn="l">
              <a:buNone/>
            </a:pPr>
            <a:r>
              <a:rPr lang="en-US" sz="810" b="1" dirty="0">
                <a:solidFill>
                  <a:srgbClr val="1F3556"/>
                </a:solidFill>
              </a:rPr>
              <a:t>LOT2 combinations</a:t>
            </a:r>
            <a:endParaRPr lang="en-US" sz="810" dirty="0"/>
          </a:p>
        </p:txBody>
      </p:sp>
      <p:sp>
        <p:nvSpPr>
          <p:cNvPr id="24" name="Text 22"/>
          <p:cNvSpPr/>
          <p:nvPr/>
        </p:nvSpPr>
        <p:spPr>
          <a:xfrm>
            <a:off x="2706624" y="3337560"/>
            <a:ext cx="368503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Multiple non-index classes could start same day</a:t>
            </a:r>
            <a:endParaRPr lang="en-US" sz="810" dirty="0"/>
          </a:p>
        </p:txBody>
      </p:sp>
      <p:sp>
        <p:nvSpPr>
          <p:cNvPr id="25" name="Text 23"/>
          <p:cNvSpPr/>
          <p:nvPr/>
        </p:nvSpPr>
        <p:spPr>
          <a:xfrm>
            <a:off x="6501384" y="3337560"/>
            <a:ext cx="514807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Collapsed same-day LOT2 classes into ordered combination labels</a:t>
            </a:r>
            <a:endParaRPr lang="en-US" sz="810" dirty="0"/>
          </a:p>
        </p:txBody>
      </p:sp>
      <p:sp>
        <p:nvSpPr>
          <p:cNvPr id="26" name="Shape 24"/>
          <p:cNvSpPr/>
          <p:nvPr/>
        </p:nvSpPr>
        <p:spPr>
          <a:xfrm>
            <a:off x="502920" y="3767328"/>
            <a:ext cx="11201400" cy="530352"/>
          </a:xfrm>
          <a:prstGeom prst="rect">
            <a:avLst/>
          </a:prstGeom>
          <a:solidFill>
            <a:srgbClr val="F9FAFB"/>
          </a:solidFill>
          <a:ln w="5080">
            <a:solidFill>
              <a:srgbClr val="E5E7EB"/>
            </a:solidFill>
            <a:prstDash val="solid"/>
          </a:ln>
        </p:spPr>
        <p:txBody>
          <a:bodyPr/>
          <a:lstStyle/>
          <a:p>
            <a:endParaRPr lang="en-US"/>
          </a:p>
        </p:txBody>
      </p:sp>
      <p:sp>
        <p:nvSpPr>
          <p:cNvPr id="27" name="Text 25"/>
          <p:cNvSpPr/>
          <p:nvPr/>
        </p:nvSpPr>
        <p:spPr>
          <a:xfrm>
            <a:off x="557784" y="3867912"/>
            <a:ext cx="2039112" cy="384048"/>
          </a:xfrm>
          <a:prstGeom prst="rect">
            <a:avLst/>
          </a:prstGeom>
          <a:noFill/>
          <a:ln/>
        </p:spPr>
        <p:txBody>
          <a:bodyPr wrap="square" lIns="0" tIns="0" rIns="0" bIns="0" rtlCol="0" anchor="ctr">
            <a:normAutofit/>
          </a:bodyPr>
          <a:lstStyle/>
          <a:p>
            <a:pPr marL="0" indent="0" algn="l">
              <a:buNone/>
            </a:pPr>
            <a:r>
              <a:rPr lang="en-US" sz="810" b="1" dirty="0">
                <a:solidFill>
                  <a:srgbClr val="1F3556"/>
                </a:solidFill>
              </a:rPr>
              <a:t>Overlap interpretation</a:t>
            </a:r>
            <a:endParaRPr lang="en-US" sz="810" dirty="0"/>
          </a:p>
        </p:txBody>
      </p:sp>
      <p:sp>
        <p:nvSpPr>
          <p:cNvPr id="28" name="Text 26"/>
          <p:cNvSpPr/>
          <p:nvPr/>
        </p:nvSpPr>
        <p:spPr>
          <a:xfrm>
            <a:off x="2706624" y="3867912"/>
            <a:ext cx="368503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0 days, no qualifying LOT2, and positive overlap are different</a:t>
            </a:r>
            <a:endParaRPr lang="en-US" sz="810" dirty="0"/>
          </a:p>
        </p:txBody>
      </p:sp>
      <p:sp>
        <p:nvSpPr>
          <p:cNvPr id="29" name="Text 27"/>
          <p:cNvSpPr/>
          <p:nvPr/>
        </p:nvSpPr>
        <p:spPr>
          <a:xfrm>
            <a:off x="6501384" y="3867912"/>
            <a:ext cx="514807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Separated categories and added figure footnotes</a:t>
            </a:r>
            <a:endParaRPr lang="en-US" sz="810" dirty="0"/>
          </a:p>
        </p:txBody>
      </p:sp>
      <p:sp>
        <p:nvSpPr>
          <p:cNvPr id="30" name="Shape 28"/>
          <p:cNvSpPr/>
          <p:nvPr/>
        </p:nvSpPr>
        <p:spPr>
          <a:xfrm>
            <a:off x="502920" y="4297680"/>
            <a:ext cx="11201400" cy="530352"/>
          </a:xfrm>
          <a:prstGeom prst="rect">
            <a:avLst/>
          </a:prstGeom>
          <a:solidFill>
            <a:srgbClr val="FFFFFF"/>
          </a:solidFill>
          <a:ln w="5080">
            <a:solidFill>
              <a:srgbClr val="E5E7EB"/>
            </a:solidFill>
            <a:prstDash val="solid"/>
          </a:ln>
        </p:spPr>
        <p:txBody>
          <a:bodyPr/>
          <a:lstStyle/>
          <a:p>
            <a:endParaRPr lang="en-US"/>
          </a:p>
        </p:txBody>
      </p:sp>
      <p:sp>
        <p:nvSpPr>
          <p:cNvPr id="31" name="Text 29"/>
          <p:cNvSpPr/>
          <p:nvPr/>
        </p:nvSpPr>
        <p:spPr>
          <a:xfrm>
            <a:off x="557784" y="4398264"/>
            <a:ext cx="2039112" cy="384048"/>
          </a:xfrm>
          <a:prstGeom prst="rect">
            <a:avLst/>
          </a:prstGeom>
          <a:noFill/>
          <a:ln/>
        </p:spPr>
        <p:txBody>
          <a:bodyPr wrap="square" lIns="0" tIns="0" rIns="0" bIns="0" rtlCol="0" anchor="ctr">
            <a:normAutofit/>
          </a:bodyPr>
          <a:lstStyle/>
          <a:p>
            <a:pPr marL="0" indent="0" algn="l">
              <a:buNone/>
            </a:pPr>
            <a:r>
              <a:rPr lang="en-US" sz="810" b="1" dirty="0">
                <a:solidFill>
                  <a:srgbClr val="1F3556"/>
                </a:solidFill>
              </a:rPr>
              <a:t>Presentation clarity</a:t>
            </a:r>
            <a:endParaRPr lang="en-US" sz="810" dirty="0"/>
          </a:p>
        </p:txBody>
      </p:sp>
      <p:sp>
        <p:nvSpPr>
          <p:cNvPr id="32" name="Text 30"/>
          <p:cNvSpPr/>
          <p:nvPr/>
        </p:nvSpPr>
        <p:spPr>
          <a:xfrm>
            <a:off x="2706624" y="4398264"/>
            <a:ext cx="368503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Large Sankey plots were hard to read without context</a:t>
            </a:r>
            <a:endParaRPr lang="en-US" sz="810" dirty="0"/>
          </a:p>
        </p:txBody>
      </p:sp>
      <p:sp>
        <p:nvSpPr>
          <p:cNvPr id="33" name="Text 31"/>
          <p:cNvSpPr/>
          <p:nvPr/>
        </p:nvSpPr>
        <p:spPr>
          <a:xfrm>
            <a:off x="6501384" y="4398264"/>
            <a:ext cx="5148072" cy="384048"/>
          </a:xfrm>
          <a:prstGeom prst="rect">
            <a:avLst/>
          </a:prstGeom>
          <a:noFill/>
          <a:ln/>
        </p:spPr>
        <p:txBody>
          <a:bodyPr wrap="square" lIns="0" tIns="0" rIns="0" bIns="0" rtlCol="0" anchor="ctr">
            <a:normAutofit/>
          </a:bodyPr>
          <a:lstStyle/>
          <a:p>
            <a:pPr marL="0" indent="0" algn="ctr">
              <a:buNone/>
            </a:pPr>
            <a:r>
              <a:rPr lang="en-US" sz="810" dirty="0">
                <a:solidFill>
                  <a:srgbClr val="374151"/>
                </a:solidFill>
              </a:rPr>
              <a:t>Added automated notes/footnotes to exported figures</a:t>
            </a:r>
            <a:endParaRPr lang="en-US" sz="810" dirty="0"/>
          </a:p>
        </p:txBody>
      </p:sp>
      <p:sp>
        <p:nvSpPr>
          <p:cNvPr id="34" name="Text 32"/>
          <p:cNvSpPr/>
          <p:nvPr/>
        </p:nvSpPr>
        <p:spPr>
          <a:xfrm>
            <a:off x="731520" y="5870448"/>
            <a:ext cx="10607040" cy="274320"/>
          </a:xfrm>
          <a:prstGeom prst="rect">
            <a:avLst/>
          </a:prstGeom>
          <a:noFill/>
          <a:ln/>
        </p:spPr>
        <p:txBody>
          <a:bodyPr wrap="square" lIns="0" tIns="0" rIns="0" bIns="0" rtlCol="0" anchor="ctr"/>
          <a:lstStyle/>
          <a:p>
            <a:pPr marL="0" indent="0" algn="ctr">
              <a:buNone/>
            </a:pPr>
            <a:r>
              <a:rPr lang="en-US" sz="1100" b="1" dirty="0">
                <a:solidFill>
                  <a:srgbClr val="1F3556"/>
                </a:solidFill>
              </a:rPr>
              <a:t>This is the “methods contribution”: the project turned raw EHR medication records into clinically interpretable treatment pathways.</a:t>
            </a:r>
            <a:endParaRPr lang="en-US" sz="1100" dirty="0"/>
          </a:p>
        </p:txBody>
      </p:sp>
      <p:sp>
        <p:nvSpPr>
          <p:cNvPr id="35" name="Text 33"/>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05" y="292608"/>
            <a:ext cx="12191695" cy="6858000"/>
          </a:xfrm>
          <a:prstGeom prst="rect">
            <a:avLst/>
          </a:prstGeom>
          <a:solidFill>
            <a:srgbClr val="FFFFFF"/>
          </a:solidFill>
          <a:ln w="12700">
            <a:solidFill>
              <a:srgbClr val="FFFFFF"/>
            </a:solidFill>
            <a:prstDash val="solid"/>
          </a:ln>
        </p:spPr>
        <p:txBody>
          <a:bodyPr/>
          <a:lstStyle/>
          <a:p>
            <a:endParaRPr lang="en-US" dirty="0"/>
          </a:p>
        </p:txBody>
      </p:sp>
      <p:sp>
        <p:nvSpPr>
          <p:cNvPr id="3" name="Shape 1"/>
          <p:cNvSpPr/>
          <p:nvPr/>
        </p:nvSpPr>
        <p:spPr>
          <a:xfrm>
            <a:off x="0" y="0"/>
            <a:ext cx="12191695" cy="91440"/>
          </a:xfrm>
          <a:prstGeom prst="rect">
            <a:avLst/>
          </a:prstGeom>
          <a:solidFill>
            <a:srgbClr val="2CB7B0"/>
          </a:solidFill>
          <a:ln w="12700">
            <a:solidFill>
              <a:srgbClr val="2CB7B0"/>
            </a:solidFill>
            <a:prstDash val="solid"/>
          </a:ln>
        </p:spPr>
        <p:txBody>
          <a:bodyPr/>
          <a:lstStyle/>
          <a:p>
            <a:endParaRPr lang="en-US"/>
          </a:p>
        </p:txBody>
      </p:sp>
      <p:sp>
        <p:nvSpPr>
          <p:cNvPr id="4" name="Text 2"/>
          <p:cNvSpPr/>
          <p:nvPr/>
        </p:nvSpPr>
        <p:spPr>
          <a:xfrm>
            <a:off x="502920" y="292608"/>
            <a:ext cx="11155680" cy="365760"/>
          </a:xfrm>
          <a:prstGeom prst="rect">
            <a:avLst/>
          </a:prstGeom>
          <a:noFill/>
          <a:ln/>
        </p:spPr>
        <p:txBody>
          <a:bodyPr wrap="square" lIns="0" tIns="0" rIns="0" bIns="0" rtlCol="0" anchor="ctr"/>
          <a:lstStyle/>
          <a:p>
            <a:pPr marL="0" indent="0">
              <a:buNone/>
            </a:pPr>
            <a:r>
              <a:rPr lang="en-US" sz="2600" b="1" dirty="0">
                <a:solidFill>
                  <a:srgbClr val="1F3556"/>
                </a:solidFill>
                <a:latin typeface="Aptos Display" pitchFamily="34" charset="0"/>
                <a:ea typeface="Aptos Display" pitchFamily="34" charset="-122"/>
                <a:cs typeface="Aptos Display" pitchFamily="34" charset="-120"/>
              </a:rPr>
              <a:t>Final takeaways and next steps</a:t>
            </a:r>
            <a:endParaRPr lang="en-US" sz="2600" dirty="0"/>
          </a:p>
        </p:txBody>
      </p:sp>
      <p:sp>
        <p:nvSpPr>
          <p:cNvPr id="5" name="Text 3"/>
          <p:cNvSpPr/>
          <p:nvPr/>
        </p:nvSpPr>
        <p:spPr>
          <a:xfrm>
            <a:off x="521208" y="722376"/>
            <a:ext cx="11064240" cy="274320"/>
          </a:xfrm>
          <a:prstGeom prst="rect">
            <a:avLst/>
          </a:prstGeom>
          <a:noFill/>
          <a:ln/>
        </p:spPr>
        <p:txBody>
          <a:bodyPr wrap="square" lIns="0" tIns="0" rIns="0" bIns="0" rtlCol="0" anchor="ctr"/>
          <a:lstStyle/>
          <a:p>
            <a:pPr marL="0" indent="0">
              <a:buNone/>
            </a:pPr>
            <a:r>
              <a:rPr lang="en-US" sz="1050" dirty="0">
                <a:solidFill>
                  <a:srgbClr val="6B7280"/>
                </a:solidFill>
              </a:rPr>
              <a:t>A reusable treatment-pattern workflow was built and documented.</a:t>
            </a:r>
            <a:endParaRPr lang="en-US" sz="1050" dirty="0"/>
          </a:p>
        </p:txBody>
      </p:sp>
      <p:sp>
        <p:nvSpPr>
          <p:cNvPr id="6" name="Shape 4"/>
          <p:cNvSpPr/>
          <p:nvPr/>
        </p:nvSpPr>
        <p:spPr>
          <a:xfrm>
            <a:off x="777240" y="1143000"/>
            <a:ext cx="2926080" cy="475488"/>
          </a:xfrm>
          <a:prstGeom prst="roundRect">
            <a:avLst>
              <a:gd name="adj" fmla="val 15385"/>
            </a:avLst>
          </a:prstGeom>
          <a:solidFill>
            <a:srgbClr val="E7F7F6"/>
          </a:solidFill>
          <a:ln w="12700">
            <a:solidFill>
              <a:srgbClr val="2CB7B0"/>
            </a:solidFill>
            <a:prstDash val="solid"/>
          </a:ln>
        </p:spPr>
        <p:txBody>
          <a:bodyPr/>
          <a:lstStyle/>
          <a:p>
            <a:endParaRPr lang="en-US"/>
          </a:p>
        </p:txBody>
      </p:sp>
      <p:sp>
        <p:nvSpPr>
          <p:cNvPr id="7" name="Text 5"/>
          <p:cNvSpPr/>
          <p:nvPr/>
        </p:nvSpPr>
        <p:spPr>
          <a:xfrm>
            <a:off x="941832" y="1307592"/>
            <a:ext cx="2596896" cy="146304"/>
          </a:xfrm>
          <a:prstGeom prst="rect">
            <a:avLst/>
          </a:prstGeom>
          <a:noFill/>
          <a:ln/>
        </p:spPr>
        <p:txBody>
          <a:bodyPr wrap="square" lIns="381" tIns="381" rIns="381" bIns="381" rtlCol="0" anchor="ctr">
            <a:normAutofit fontScale="92500" lnSpcReduction="20000"/>
          </a:bodyPr>
          <a:lstStyle/>
          <a:p>
            <a:pPr marL="0" indent="0">
              <a:buNone/>
            </a:pPr>
            <a:r>
              <a:rPr lang="en-US" sz="1200" dirty="0">
                <a:solidFill>
                  <a:srgbClr val="1F3556"/>
                </a:solidFill>
              </a:rPr>
              <a:t>What was completed</a:t>
            </a:r>
            <a:endParaRPr lang="en-US" sz="1200" dirty="0"/>
          </a:p>
        </p:txBody>
      </p:sp>
      <p:sp>
        <p:nvSpPr>
          <p:cNvPr id="8" name="Text 6"/>
          <p:cNvSpPr/>
          <p:nvPr/>
        </p:nvSpPr>
        <p:spPr>
          <a:xfrm>
            <a:off x="960120" y="1755648"/>
            <a:ext cx="2560320" cy="1234440"/>
          </a:xfrm>
          <a:prstGeom prst="rect">
            <a:avLst/>
          </a:prstGeom>
          <a:noFill/>
          <a:ln/>
        </p:spPr>
        <p:txBody>
          <a:bodyPr wrap="square" lIns="254" tIns="254" rIns="254" bIns="254" rtlCol="0" anchor="ctr"/>
          <a:lstStyle/>
          <a:p>
            <a:pPr marL="171450" indent="-171450">
              <a:buFont typeface="Arial" panose="020B0604020202020204" pitchFamily="34" charset="0"/>
              <a:buChar char="•"/>
            </a:pPr>
            <a:r>
              <a:rPr lang="en-US" sz="1200" dirty="0">
                <a:solidFill>
                  <a:srgbClr val="374151"/>
                </a:solidFill>
              </a:rPr>
              <a:t>Tables 1-7</a:t>
            </a:r>
            <a:endParaRPr lang="en-US" sz="1200" dirty="0"/>
          </a:p>
          <a:p>
            <a:pPr marL="171450" indent="-171450">
              <a:buFont typeface="Arial" panose="020B0604020202020204" pitchFamily="34" charset="0"/>
              <a:buChar char="•"/>
            </a:pPr>
            <a:r>
              <a:rPr lang="en-US" sz="1200" dirty="0">
                <a:solidFill>
                  <a:srgbClr val="374151"/>
                </a:solidFill>
              </a:rPr>
              <a:t>Cleaned notebooks</a:t>
            </a:r>
            <a:endParaRPr lang="en-US" sz="1200" dirty="0"/>
          </a:p>
          <a:p>
            <a:pPr marL="171450" indent="-171450">
              <a:buFont typeface="Arial" panose="020B0604020202020204" pitchFamily="34" charset="0"/>
              <a:buChar char="•"/>
            </a:pPr>
            <a:r>
              <a:rPr lang="en-US" sz="1200" dirty="0">
                <a:solidFill>
                  <a:srgbClr val="374151"/>
                </a:solidFill>
              </a:rPr>
              <a:t>Sankey diagrams</a:t>
            </a:r>
            <a:endParaRPr lang="en-US" sz="1200" dirty="0"/>
          </a:p>
          <a:p>
            <a:pPr marL="171450" indent="-171450">
              <a:buFont typeface="Arial" panose="020B0604020202020204" pitchFamily="34" charset="0"/>
              <a:buChar char="•"/>
            </a:pPr>
            <a:r>
              <a:rPr lang="en-US" sz="1200" dirty="0">
                <a:solidFill>
                  <a:srgbClr val="374151"/>
                </a:solidFill>
              </a:rPr>
              <a:t>Table 7 overlap summaries</a:t>
            </a:r>
            <a:endParaRPr lang="en-US" sz="1200" dirty="0"/>
          </a:p>
          <a:p>
            <a:pPr marL="171450" indent="-171450">
              <a:buFont typeface="Arial" panose="020B0604020202020204" pitchFamily="34" charset="0"/>
              <a:buChar char="•"/>
            </a:pPr>
            <a:r>
              <a:rPr lang="en-US" sz="1200" dirty="0">
                <a:solidFill>
                  <a:srgbClr val="374151"/>
                </a:solidFill>
              </a:rPr>
              <a:t>GitHub repository organization</a:t>
            </a:r>
            <a:endParaRPr lang="en-US" sz="1200" dirty="0"/>
          </a:p>
        </p:txBody>
      </p:sp>
      <p:sp>
        <p:nvSpPr>
          <p:cNvPr id="9" name="Shape 7"/>
          <p:cNvSpPr/>
          <p:nvPr/>
        </p:nvSpPr>
        <p:spPr>
          <a:xfrm>
            <a:off x="4617720" y="1143000"/>
            <a:ext cx="2926080" cy="475488"/>
          </a:xfrm>
          <a:prstGeom prst="roundRect">
            <a:avLst>
              <a:gd name="adj" fmla="val 15385"/>
            </a:avLst>
          </a:prstGeom>
          <a:solidFill>
            <a:srgbClr val="EAF3FA"/>
          </a:solidFill>
          <a:ln w="12700">
            <a:solidFill>
              <a:srgbClr val="4C78A8"/>
            </a:solidFill>
            <a:prstDash val="solid"/>
          </a:ln>
        </p:spPr>
        <p:txBody>
          <a:bodyPr/>
          <a:lstStyle/>
          <a:p>
            <a:endParaRPr lang="en-US"/>
          </a:p>
        </p:txBody>
      </p:sp>
      <p:sp>
        <p:nvSpPr>
          <p:cNvPr id="10" name="Text 8"/>
          <p:cNvSpPr/>
          <p:nvPr/>
        </p:nvSpPr>
        <p:spPr>
          <a:xfrm>
            <a:off x="4782312" y="1307592"/>
            <a:ext cx="2596896" cy="146304"/>
          </a:xfrm>
          <a:prstGeom prst="rect">
            <a:avLst/>
          </a:prstGeom>
          <a:noFill/>
          <a:ln/>
        </p:spPr>
        <p:txBody>
          <a:bodyPr wrap="square" lIns="381" tIns="381" rIns="381" bIns="381" rtlCol="0" anchor="ctr">
            <a:normAutofit fontScale="92500" lnSpcReduction="20000"/>
          </a:bodyPr>
          <a:lstStyle/>
          <a:p>
            <a:pPr marL="0" indent="0">
              <a:buNone/>
            </a:pPr>
            <a:r>
              <a:rPr lang="en-US" sz="1200" dirty="0">
                <a:solidFill>
                  <a:srgbClr val="1F3556"/>
                </a:solidFill>
              </a:rPr>
              <a:t>What it enables</a:t>
            </a:r>
            <a:endParaRPr lang="en-US" sz="1200" dirty="0"/>
          </a:p>
        </p:txBody>
      </p:sp>
      <p:sp>
        <p:nvSpPr>
          <p:cNvPr id="11" name="Text 9"/>
          <p:cNvSpPr/>
          <p:nvPr/>
        </p:nvSpPr>
        <p:spPr>
          <a:xfrm>
            <a:off x="4800600" y="1755648"/>
            <a:ext cx="2743200" cy="1234440"/>
          </a:xfrm>
          <a:prstGeom prst="rect">
            <a:avLst/>
          </a:prstGeom>
          <a:noFill/>
          <a:ln/>
        </p:spPr>
        <p:txBody>
          <a:bodyPr wrap="square" lIns="254" tIns="254" rIns="254" bIns="254" rtlCol="0" anchor="ctr"/>
          <a:lstStyle/>
          <a:p>
            <a:pPr marL="171450" indent="-171450">
              <a:buFont typeface="Arial" panose="020B0604020202020204" pitchFamily="34" charset="0"/>
              <a:buChar char="•"/>
            </a:pPr>
            <a:r>
              <a:rPr lang="en-US" sz="1200" dirty="0">
                <a:solidFill>
                  <a:srgbClr val="374151"/>
                </a:solidFill>
              </a:rPr>
              <a:t>Re-runnable cohort workflow</a:t>
            </a:r>
            <a:endParaRPr lang="en-US" sz="1200" dirty="0"/>
          </a:p>
          <a:p>
            <a:pPr marL="171450" indent="-171450">
              <a:buFont typeface="Arial" panose="020B0604020202020204" pitchFamily="34" charset="0"/>
              <a:buChar char="•"/>
            </a:pPr>
            <a:r>
              <a:rPr lang="en-US" sz="1200" dirty="0">
                <a:solidFill>
                  <a:srgbClr val="374151"/>
                </a:solidFill>
              </a:rPr>
              <a:t>Medication class mapping</a:t>
            </a:r>
            <a:endParaRPr lang="en-US" sz="1200" dirty="0"/>
          </a:p>
          <a:p>
            <a:pPr marL="171450" indent="-171450">
              <a:buFont typeface="Arial" panose="020B0604020202020204" pitchFamily="34" charset="0"/>
              <a:buChar char="•"/>
            </a:pPr>
            <a:r>
              <a:rPr lang="en-US" sz="1200" dirty="0">
                <a:solidFill>
                  <a:srgbClr val="374151"/>
                </a:solidFill>
              </a:rPr>
              <a:t>LOT1 -&gt; LOT2 methodology</a:t>
            </a:r>
            <a:endParaRPr lang="en-US" sz="1200" dirty="0"/>
          </a:p>
          <a:p>
            <a:pPr marL="171450" indent="-171450">
              <a:buFont typeface="Arial" panose="020B0604020202020204" pitchFamily="34" charset="0"/>
              <a:buChar char="•"/>
            </a:pPr>
            <a:r>
              <a:rPr lang="en-US" sz="1200" dirty="0">
                <a:solidFill>
                  <a:srgbClr val="374151"/>
                </a:solidFill>
              </a:rPr>
              <a:t>Transition timing analysis</a:t>
            </a:r>
            <a:endParaRPr lang="en-US" sz="1200" dirty="0"/>
          </a:p>
        </p:txBody>
      </p:sp>
      <p:sp>
        <p:nvSpPr>
          <p:cNvPr id="12" name="Shape 10"/>
          <p:cNvSpPr/>
          <p:nvPr/>
        </p:nvSpPr>
        <p:spPr>
          <a:xfrm>
            <a:off x="8458200" y="1143000"/>
            <a:ext cx="2926080" cy="475488"/>
          </a:xfrm>
          <a:prstGeom prst="roundRect">
            <a:avLst>
              <a:gd name="adj" fmla="val 15385"/>
            </a:avLst>
          </a:prstGeom>
          <a:solidFill>
            <a:srgbClr val="FFF6D6"/>
          </a:solidFill>
          <a:ln w="12700">
            <a:solidFill>
              <a:srgbClr val="F2C14E"/>
            </a:solidFill>
            <a:prstDash val="solid"/>
          </a:ln>
        </p:spPr>
        <p:txBody>
          <a:bodyPr/>
          <a:lstStyle/>
          <a:p>
            <a:endParaRPr lang="en-US"/>
          </a:p>
        </p:txBody>
      </p:sp>
      <p:sp>
        <p:nvSpPr>
          <p:cNvPr id="13" name="Text 11"/>
          <p:cNvSpPr/>
          <p:nvPr/>
        </p:nvSpPr>
        <p:spPr>
          <a:xfrm>
            <a:off x="8622792" y="1307592"/>
            <a:ext cx="2596896" cy="146304"/>
          </a:xfrm>
          <a:prstGeom prst="rect">
            <a:avLst/>
          </a:prstGeom>
          <a:noFill/>
          <a:ln/>
        </p:spPr>
        <p:txBody>
          <a:bodyPr wrap="square" lIns="381" tIns="381" rIns="381" bIns="381" rtlCol="0" anchor="ctr">
            <a:normAutofit fontScale="92500" lnSpcReduction="20000"/>
          </a:bodyPr>
          <a:lstStyle/>
          <a:p>
            <a:pPr marL="0" indent="0">
              <a:buNone/>
            </a:pPr>
            <a:r>
              <a:rPr lang="en-US" sz="1200" dirty="0">
                <a:solidFill>
                  <a:srgbClr val="1F3556"/>
                </a:solidFill>
              </a:rPr>
              <a:t>Next steps— Marketing target</a:t>
            </a:r>
          </a:p>
        </p:txBody>
      </p:sp>
      <p:sp>
        <p:nvSpPr>
          <p:cNvPr id="14" name="Text 12"/>
          <p:cNvSpPr/>
          <p:nvPr/>
        </p:nvSpPr>
        <p:spPr>
          <a:xfrm>
            <a:off x="8476488" y="1719076"/>
            <a:ext cx="2743200" cy="2185411"/>
          </a:xfrm>
          <a:prstGeom prst="rect">
            <a:avLst/>
          </a:prstGeom>
          <a:noFill/>
          <a:ln/>
        </p:spPr>
        <p:txBody>
          <a:bodyPr wrap="square" lIns="254" tIns="254" rIns="254" bIns="254" rtlCol="0" anchor="ctr"/>
          <a:lstStyle/>
          <a:p>
            <a:pPr marL="171450" indent="-171450">
              <a:buFont typeface="Arial" panose="020B0604020202020204" pitchFamily="34" charset="0"/>
              <a:buChar char="•"/>
            </a:pPr>
            <a:r>
              <a:rPr lang="en-CA" sz="1200" dirty="0">
                <a:solidFill>
                  <a:srgbClr val="374151"/>
                </a:solidFill>
              </a:rPr>
              <a:t>Explore patient segments behind SSRI -&gt; atypical transitions: Compare age, demographics, comorbidities, and follow-up patterns</a:t>
            </a:r>
          </a:p>
          <a:p>
            <a:pPr marL="171450" indent="-171450">
              <a:buFont typeface="Arial" panose="020B0604020202020204" pitchFamily="34" charset="0"/>
              <a:buChar char="•"/>
            </a:pPr>
            <a:r>
              <a:rPr lang="en-CA" sz="1200" dirty="0">
                <a:solidFill>
                  <a:srgbClr val="374151"/>
                </a:solidFill>
              </a:rPr>
              <a:t>Link with external data to study prescriber types and pattern </a:t>
            </a:r>
          </a:p>
          <a:p>
            <a:pPr marL="171450" indent="-171450">
              <a:buFont typeface="Arial" panose="020B0604020202020204" pitchFamily="34" charset="0"/>
              <a:buChar char="•"/>
            </a:pPr>
            <a:r>
              <a:rPr lang="en-CA" sz="1200" dirty="0">
                <a:solidFill>
                  <a:srgbClr val="374151"/>
                </a:solidFill>
              </a:rPr>
              <a:t>Translate findings into treatment-sequencing and market-access questions</a:t>
            </a:r>
          </a:p>
          <a:p>
            <a:pPr marL="0" indent="0">
              <a:buNone/>
            </a:pPr>
            <a:endParaRPr lang="en-US" sz="1200" dirty="0">
              <a:solidFill>
                <a:srgbClr val="374151"/>
              </a:solidFill>
            </a:endParaRPr>
          </a:p>
        </p:txBody>
      </p:sp>
      <p:sp>
        <p:nvSpPr>
          <p:cNvPr id="15" name="Shape 13"/>
          <p:cNvSpPr/>
          <p:nvPr/>
        </p:nvSpPr>
        <p:spPr>
          <a:xfrm>
            <a:off x="868680" y="3913632"/>
            <a:ext cx="10287000" cy="0"/>
          </a:xfrm>
          <a:prstGeom prst="line">
            <a:avLst/>
          </a:prstGeom>
          <a:noFill/>
          <a:ln w="12700">
            <a:solidFill>
              <a:srgbClr val="D0D7DE"/>
            </a:solidFill>
            <a:prstDash val="solid"/>
          </a:ln>
        </p:spPr>
        <p:txBody>
          <a:bodyPr/>
          <a:lstStyle/>
          <a:p>
            <a:endParaRPr lang="en-US" dirty="0"/>
          </a:p>
        </p:txBody>
      </p:sp>
      <p:sp>
        <p:nvSpPr>
          <p:cNvPr id="16" name="Text 14"/>
          <p:cNvSpPr/>
          <p:nvPr/>
        </p:nvSpPr>
        <p:spPr>
          <a:xfrm>
            <a:off x="868680" y="4370832"/>
            <a:ext cx="1828800" cy="228600"/>
          </a:xfrm>
          <a:prstGeom prst="rect">
            <a:avLst/>
          </a:prstGeom>
          <a:noFill/>
          <a:ln/>
        </p:spPr>
        <p:txBody>
          <a:bodyPr wrap="square" lIns="0" tIns="0" rIns="0" bIns="0" rtlCol="0" anchor="ctr"/>
          <a:lstStyle/>
          <a:p>
            <a:pPr marL="0" indent="0">
              <a:buNone/>
            </a:pPr>
            <a:r>
              <a:rPr lang="en-US" sz="1200" b="1" dirty="0">
                <a:solidFill>
                  <a:srgbClr val="1F3556"/>
                </a:solidFill>
              </a:rPr>
              <a:t>Closing message</a:t>
            </a:r>
            <a:endParaRPr lang="en-US" sz="1200" dirty="0"/>
          </a:p>
        </p:txBody>
      </p:sp>
      <p:sp>
        <p:nvSpPr>
          <p:cNvPr id="17" name="Text 15"/>
          <p:cNvSpPr/>
          <p:nvPr/>
        </p:nvSpPr>
        <p:spPr>
          <a:xfrm>
            <a:off x="868680" y="4754880"/>
            <a:ext cx="10378440" cy="548640"/>
          </a:xfrm>
          <a:prstGeom prst="rect">
            <a:avLst/>
          </a:prstGeom>
          <a:noFill/>
          <a:ln/>
        </p:spPr>
        <p:txBody>
          <a:bodyPr wrap="square" lIns="0" tIns="0" rIns="0" bIns="0" rtlCol="0" anchor="ctr"/>
          <a:lstStyle/>
          <a:p>
            <a:pPr marL="0" indent="0" algn="ctr">
              <a:buNone/>
            </a:pPr>
            <a:r>
              <a:rPr lang="en-US" sz="1400" b="1" dirty="0">
                <a:solidFill>
                  <a:srgbClr val="1F3556"/>
                </a:solidFill>
              </a:rPr>
              <a:t>The project creates a bridge between real-world clinical data and treatment-strategy evidence: who starts where, who transitions, how quickly they transition, and how long classes overlap.</a:t>
            </a:r>
            <a:endParaRPr lang="en-US" sz="1400" dirty="0"/>
          </a:p>
        </p:txBody>
      </p:sp>
      <p:sp>
        <p:nvSpPr>
          <p:cNvPr id="18" name="Text 16"/>
          <p:cNvSpPr/>
          <p:nvPr/>
        </p:nvSpPr>
        <p:spPr>
          <a:xfrm>
            <a:off x="868680" y="5650992"/>
            <a:ext cx="10378440" cy="256032"/>
          </a:xfrm>
          <a:prstGeom prst="rect">
            <a:avLst/>
          </a:prstGeom>
          <a:noFill/>
          <a:ln/>
        </p:spPr>
        <p:txBody>
          <a:bodyPr wrap="square" lIns="0" tIns="0" rIns="0" bIns="0" rtlCol="0" anchor="ctr"/>
          <a:lstStyle/>
          <a:p>
            <a:pPr marL="0" indent="0" algn="ctr">
              <a:buNone/>
            </a:pPr>
            <a:r>
              <a:rPr lang="en-US" sz="1050" i="1" dirty="0">
                <a:solidFill>
                  <a:srgbClr val="6B7280"/>
                </a:solidFill>
              </a:rPr>
              <a:t>Appendices / repository can hold full notebooks, Excel table shell, and exported HTML/PNG figures.</a:t>
            </a:r>
            <a:endParaRPr lang="en-US" sz="1050" dirty="0"/>
          </a:p>
        </p:txBody>
      </p:sp>
      <p:sp>
        <p:nvSpPr>
          <p:cNvPr id="19" name="Text 17"/>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8A94A6"/>
                </a:solidFill>
              </a:rPr>
              <a:t>MDD antidepressant treatment pattern analysis | 14</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4530</TotalTime>
  <Words>2993</Words>
  <Application>Microsoft Macintosh PowerPoint</Application>
  <PresentationFormat>Widescreen</PresentationFormat>
  <Paragraphs>306</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Queen's University / All of Us Research Program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MDD Antidepressant Treatment Pattern Analysis</dc:title>
  <dc:subject>MDD antidepressant treatment pattern analysis</dc:subject>
  <dc:creator>Dongfang (Kayla) Cai</dc:creator>
  <cp:lastModifiedBy>Dongfang Cai</cp:lastModifiedBy>
  <cp:revision>10</cp:revision>
  <dcterms:created xsi:type="dcterms:W3CDTF">2026-06-23T05:25:05Z</dcterms:created>
  <dcterms:modified xsi:type="dcterms:W3CDTF">2026-06-27T21:27:08Z</dcterms:modified>
</cp:coreProperties>
</file>